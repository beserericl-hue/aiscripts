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D2C"/>
        </a:solidFill>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006B3F"/>
          </a:solidFill>
          <a:ln w="12700">
            <a:solidFill>
              <a:srgbClr val="006B3F"/>
            </a:solidFill>
            <a:prstDash val="solid"/>
          </a:ln>
        </p:spPr>
      </p:sp>
      <p:sp>
        <p:nvSpPr>
          <p:cNvPr id="3" name="Shape 1"/>
          <p:cNvSpPr/>
          <p:nvPr/>
        </p:nvSpPr>
        <p:spPr>
          <a:xfrm>
            <a:off x="0" y="4206240"/>
            <a:ext cx="9144000" cy="937260"/>
          </a:xfrm>
          <a:prstGeom prst="rect">
            <a:avLst/>
          </a:prstGeom>
          <a:solidFill>
            <a:srgbClr val="81C784">
              <a:alpha val="40000"/>
            </a:srgbClr>
          </a:solidFill>
          <a:ln w="12700">
            <a:solidFill>
              <a:srgbClr val="81C784">
                <a:alpha val="40000"/>
              </a:srgbClr>
            </a:solidFill>
            <a:prstDash val="solid"/>
          </a:ln>
        </p:spPr>
      </p:sp>
      <p:pic>
        <p:nvPicPr>
          <p:cNvPr id="4" name="Image 0" descr="preencoded.png">    </p:cNvPr>
          <p:cNvPicPr>
            <a:picLocks noChangeAspect="1"/>
          </p:cNvPicPr>
          <p:nvPr/>
        </p:nvPicPr>
        <p:blipFill>
          <a:blip r:embed="rId1"/>
          <a:stretch>
            <a:fillRect/>
          </a:stretch>
        </p:blipFill>
        <p:spPr>
          <a:xfrm>
            <a:off x="731520" y="502920"/>
            <a:ext cx="1371600" cy="1371600"/>
          </a:xfrm>
          <a:prstGeom prst="rect">
            <a:avLst/>
          </a:prstGeom>
        </p:spPr>
      </p:pic>
      <p:sp>
        <p:nvSpPr>
          <p:cNvPr id="5" name="Text 2"/>
          <p:cNvSpPr/>
          <p:nvPr/>
        </p:nvSpPr>
        <p:spPr>
          <a:xfrm>
            <a:off x="457200" y="1965960"/>
            <a:ext cx="3657600" cy="274320"/>
          </a:xfrm>
          <a:prstGeom prst="rect">
            <a:avLst/>
          </a:prstGeom>
          <a:noFill/>
          <a:ln/>
        </p:spPr>
        <p:txBody>
          <a:bodyPr wrap="square" lIns="0" tIns="0" rIns="0" bIns="0" rtlCol="0" anchor="ctr"/>
          <a:lstStyle/>
          <a:p>
            <a:pPr algn="l" indent="0" marL="0">
              <a:buNone/>
            </a:pPr>
            <a:r>
              <a:rPr lang="en-US" sz="1100" b="1" dirty="0">
                <a:solidFill>
                  <a:srgbClr val="81C784"/>
                </a:solidFill>
                <a:latin typeface="Calibri" pitchFamily="34" charset="0"/>
                <a:ea typeface="Calibri" pitchFamily="34" charset="-122"/>
                <a:cs typeface="Calibri" pitchFamily="34" charset="-120"/>
              </a:rPr>
              <a:t>Council for Standards in Human Service Education</a:t>
            </a:r>
            <a:endParaRPr lang="en-US" sz="1100" dirty="0"/>
          </a:p>
        </p:txBody>
      </p:sp>
      <p:sp>
        <p:nvSpPr>
          <p:cNvPr id="6" name="Text 3"/>
          <p:cNvSpPr/>
          <p:nvPr/>
        </p:nvSpPr>
        <p:spPr>
          <a:xfrm>
            <a:off x="457200" y="2331720"/>
            <a:ext cx="3657600" cy="73152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AI Import Wizard</a:t>
            </a:r>
            <a:endParaRPr lang="en-US" sz="3400" dirty="0"/>
          </a:p>
        </p:txBody>
      </p:sp>
      <p:sp>
        <p:nvSpPr>
          <p:cNvPr id="7" name="Text 4"/>
          <p:cNvSpPr/>
          <p:nvPr/>
        </p:nvSpPr>
        <p:spPr>
          <a:xfrm>
            <a:off x="457200" y="3063240"/>
            <a:ext cx="3657600" cy="365760"/>
          </a:xfrm>
          <a:prstGeom prst="rect">
            <a:avLst/>
          </a:prstGeom>
          <a:noFill/>
          <a:ln/>
        </p:spPr>
        <p:txBody>
          <a:bodyPr wrap="square" lIns="0" tIns="0" rIns="0" bIns="0" rtlCol="0" anchor="ctr"/>
          <a:lstStyle/>
          <a:p>
            <a:pPr indent="0" marL="0">
              <a:buNone/>
            </a:pPr>
            <a:r>
              <a:rPr lang="en-US" sz="1800" i="1" dirty="0">
                <a:solidFill>
                  <a:srgbClr val="81C784"/>
                </a:solidFill>
                <a:latin typeface="Georgia" pitchFamily="34" charset="0"/>
                <a:ea typeface="Georgia" pitchFamily="34" charset="-122"/>
                <a:cs typeface="Georgia" pitchFamily="34" charset="-120"/>
              </a:rPr>
              <a:t>User Guide &amp; Test Plan</a:t>
            </a:r>
            <a:endParaRPr lang="en-US" sz="1800" dirty="0"/>
          </a:p>
        </p:txBody>
      </p:sp>
      <p:sp>
        <p:nvSpPr>
          <p:cNvPr id="8" name="Text 5"/>
          <p:cNvSpPr/>
          <p:nvPr/>
        </p:nvSpPr>
        <p:spPr>
          <a:xfrm>
            <a:off x="4572000" y="2377440"/>
            <a:ext cx="4114800" cy="13716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From your self-study DOCX to the Standards editor — top-down.</a:t>
            </a:r>
            <a:endParaRPr lang="en-US" sz="1600" dirty="0"/>
          </a:p>
        </p:txBody>
      </p:sp>
      <p:sp>
        <p:nvSpPr>
          <p:cNvPr id="9" name="Text 6"/>
          <p:cNvSpPr/>
          <p:nvPr/>
        </p:nvSpPr>
        <p:spPr>
          <a:xfrm>
            <a:off x="731520" y="4434840"/>
            <a:ext cx="6400800" cy="274320"/>
          </a:xfrm>
          <a:prstGeom prst="rect">
            <a:avLst/>
          </a:prstGeom>
          <a:noFill/>
          <a:ln/>
        </p:spPr>
        <p:txBody>
          <a:bodyPr wrap="square" lIns="0" tIns="0" rIns="0" bIns="0" rtlCol="0" anchor="ctr"/>
          <a:lstStyle/>
          <a:p>
            <a:pPr indent="0" marL="0">
              <a:buNone/>
            </a:pPr>
            <a:r>
              <a:rPr lang="en-US" sz="1100" dirty="0">
                <a:solidFill>
                  <a:srgbClr val="81C784"/>
                </a:solidFill>
                <a:latin typeface="Calibri" pitchFamily="34" charset="0"/>
                <a:ea typeface="Calibri" pitchFamily="34" charset="-122"/>
                <a:cs typeface="Calibri" pitchFamily="34" charset="-120"/>
              </a:rPr>
              <a:t>Sprint 1 · commit 8ea57e6 · </a:t>
            </a:r>
            <a:pPr indent="0" marL="0">
              <a:buNone/>
            </a:pPr>
            <a:r>
              <a:rPr lang="en-US" sz="1100" b="1" dirty="0">
                <a:solidFill>
                  <a:srgbClr val="FFFFFF"/>
                </a:solidFill>
                <a:latin typeface="Calibri" pitchFamily="34" charset="0"/>
                <a:ea typeface="Calibri" pitchFamily="34" charset="-122"/>
                <a:cs typeface="Calibri" pitchFamily="34" charset="-120"/>
              </a:rPr>
              <a:t>2026-05-20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04D2C"/>
          </a:solidFill>
          <a:ln w="12700">
            <a:solidFill>
              <a:srgbClr val="004D2C"/>
            </a:solidFill>
            <a:prstDash val="solid"/>
          </a:ln>
        </p:spPr>
      </p:sp>
      <p:pic>
        <p:nvPicPr>
          <p:cNvPr id="3" name="Image 0" descr="preencoded.png">    </p:cNvPr>
          <p:cNvPicPr>
            <a:picLocks noChangeAspect="1"/>
          </p:cNvPicPr>
          <p:nvPr/>
        </p:nvPicPr>
        <p:blipFill>
          <a:blip r:embed="rId1"/>
          <a:stretch>
            <a:fillRect/>
          </a:stretch>
        </p:blipFill>
        <p:spPr>
          <a:xfrm>
            <a:off x="91440" y="36576"/>
            <a:ext cx="292608" cy="292608"/>
          </a:xfrm>
          <a:prstGeom prst="rect">
            <a:avLst/>
          </a:prstGeom>
        </p:spPr>
      </p:pic>
      <p:sp>
        <p:nvSpPr>
          <p:cNvPr id="4" name="Text 1"/>
          <p:cNvSpPr/>
          <p:nvPr/>
        </p:nvSpPr>
        <p:spPr>
          <a:xfrm>
            <a:off x="457200" y="0"/>
            <a:ext cx="82296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 Import Wizard · User Guide</a:t>
            </a:r>
            <a:endParaRPr lang="en-US" sz="1000" dirty="0"/>
          </a:p>
        </p:txBody>
      </p:sp>
      <p:sp>
        <p:nvSpPr>
          <p:cNvPr id="5"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006B3F"/>
                </a:solidFill>
                <a:latin typeface="Calibri" pitchFamily="34" charset="0"/>
                <a:ea typeface="Calibri" pitchFamily="34" charset="-122"/>
                <a:cs typeface="Calibri" pitchFamily="34" charset="-120"/>
              </a:rPr>
              <a:t>WHY</a:t>
            </a:r>
            <a:endParaRPr lang="en-US" sz="1100" dirty="0"/>
          </a:p>
        </p:txBody>
      </p:sp>
      <p:sp>
        <p:nvSpPr>
          <p:cNvPr id="6" name="Text 3"/>
          <p:cNvSpPr/>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004D2C"/>
                </a:solidFill>
                <a:latin typeface="Georgia" pitchFamily="34" charset="0"/>
                <a:ea typeface="Georgia" pitchFamily="34" charset="-122"/>
                <a:cs typeface="Georgia" pitchFamily="34" charset="-120"/>
              </a:rPr>
              <a:t>What the wizard replaces</a:t>
            </a:r>
            <a:endParaRPr lang="en-US" sz="3200" dirty="0"/>
          </a:p>
        </p:txBody>
      </p:sp>
      <p:sp>
        <p:nvSpPr>
          <p:cNvPr id="7" name="Shape 4"/>
          <p:cNvSpPr/>
          <p:nvPr/>
        </p:nvSpPr>
        <p:spPr>
          <a:xfrm>
            <a:off x="457200" y="1554480"/>
            <a:ext cx="3840480" cy="31089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8" name="Shape 5"/>
          <p:cNvSpPr/>
          <p:nvPr/>
        </p:nvSpPr>
        <p:spPr>
          <a:xfrm>
            <a:off x="457200" y="1554480"/>
            <a:ext cx="73152" cy="3108960"/>
          </a:xfrm>
          <a:prstGeom prst="rect">
            <a:avLst/>
          </a:prstGeom>
          <a:solidFill>
            <a:srgbClr val="DC2626"/>
          </a:solidFill>
          <a:ln w="12700">
            <a:solidFill>
              <a:srgbClr val="DC2626"/>
            </a:solidFill>
            <a:prstDash val="solid"/>
          </a:ln>
        </p:spPr>
      </p:sp>
      <p:sp>
        <p:nvSpPr>
          <p:cNvPr id="9" name="Text 6"/>
          <p:cNvSpPr/>
          <p:nvPr/>
        </p:nvSpPr>
        <p:spPr>
          <a:xfrm>
            <a:off x="685800" y="1691640"/>
            <a:ext cx="3566160" cy="320040"/>
          </a:xfrm>
          <a:prstGeom prst="rect">
            <a:avLst/>
          </a:prstGeom>
          <a:noFill/>
          <a:ln/>
        </p:spPr>
        <p:txBody>
          <a:bodyPr wrap="square" lIns="0" tIns="0" rIns="0" bIns="0" rtlCol="0" anchor="ctr"/>
          <a:lstStyle/>
          <a:p>
            <a:pPr indent="0" marL="0">
              <a:buNone/>
            </a:pPr>
            <a:r>
              <a:rPr lang="en-US" sz="1600" b="1" dirty="0">
                <a:solidFill>
                  <a:srgbClr val="1F2937"/>
                </a:solidFill>
                <a:latin typeface="Georgia" pitchFamily="34" charset="0"/>
                <a:ea typeface="Georgia" pitchFamily="34" charset="-122"/>
                <a:cs typeface="Georgia" pitchFamily="34" charset="-120"/>
              </a:rPr>
              <a:t>Manual tagging today</a:t>
            </a:r>
            <a:endParaRPr lang="en-US" sz="1600" dirty="0"/>
          </a:p>
        </p:txBody>
      </p:sp>
      <p:sp>
        <p:nvSpPr>
          <p:cNvPr id="10" name="Text 7"/>
          <p:cNvSpPr/>
          <p:nvPr/>
        </p:nvSpPr>
        <p:spPr>
          <a:xfrm>
            <a:off x="777240" y="2103120"/>
            <a:ext cx="3291840" cy="2377440"/>
          </a:xfrm>
          <a:prstGeom prst="rect">
            <a:avLst/>
          </a:prstGeom>
          <a:noFill/>
          <a:ln/>
        </p:spPr>
        <p:txBody>
          <a:bodyPr wrap="square" rtlCol="0" anchor="ctr"/>
          <a:lstStyle/>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Coordinator opens the DOCX</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Reads each spec one by one</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Cuts and pastes the matching text into the editor</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Decides narrative vs. supporting evidence</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Tags every matrix cell by hand</a:t>
            </a:r>
            <a:endParaRPr lang="en-US" sz="1200" dirty="0"/>
          </a:p>
          <a:p>
            <a:pPr indent="0" marL="0">
              <a:spcAft>
                <a:spcPts val="400"/>
              </a:spcAft>
              <a:buNone/>
            </a:pPr>
            <a:r>
              <a:rPr lang="en-US" sz="1200" b="1" i="1" dirty="0">
                <a:solidFill>
                  <a:srgbClr val="DC2626"/>
                </a:solidFill>
                <a:latin typeface="Calibri" pitchFamily="34" charset="0"/>
                <a:ea typeface="Calibri" pitchFamily="34" charset="-122"/>
                <a:cs typeface="Calibri" pitchFamily="34" charset="-120"/>
              </a:rPr>
              <a:t>~3-5 days of focused work per self-study</a:t>
            </a:r>
            <a:endParaRPr lang="en-US" sz="1200" dirty="0"/>
          </a:p>
        </p:txBody>
      </p:sp>
      <p:pic>
        <p:nvPicPr>
          <p:cNvPr id="11" name="Image 1" descr="preencoded.png">    </p:cNvPr>
          <p:cNvPicPr>
            <a:picLocks noChangeAspect="1"/>
          </p:cNvPicPr>
          <p:nvPr/>
        </p:nvPicPr>
        <p:blipFill>
          <a:blip r:embed="rId2"/>
          <a:stretch>
            <a:fillRect/>
          </a:stretch>
        </p:blipFill>
        <p:spPr>
          <a:xfrm>
            <a:off x="4389120" y="2743200"/>
            <a:ext cx="365760" cy="365760"/>
          </a:xfrm>
          <a:prstGeom prst="rect">
            <a:avLst/>
          </a:prstGeom>
        </p:spPr>
      </p:pic>
      <p:sp>
        <p:nvSpPr>
          <p:cNvPr id="12" name="Shape 8"/>
          <p:cNvSpPr/>
          <p:nvPr/>
        </p:nvSpPr>
        <p:spPr>
          <a:xfrm>
            <a:off x="4846320" y="1554480"/>
            <a:ext cx="3840480" cy="31089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13" name="Shape 9"/>
          <p:cNvSpPr/>
          <p:nvPr/>
        </p:nvSpPr>
        <p:spPr>
          <a:xfrm>
            <a:off x="4846320" y="1554480"/>
            <a:ext cx="73152" cy="3108960"/>
          </a:xfrm>
          <a:prstGeom prst="rect">
            <a:avLst/>
          </a:prstGeom>
          <a:solidFill>
            <a:srgbClr val="059669"/>
          </a:solidFill>
          <a:ln w="12700">
            <a:solidFill>
              <a:srgbClr val="059669"/>
            </a:solidFill>
            <a:prstDash val="solid"/>
          </a:ln>
        </p:spPr>
      </p:sp>
      <p:sp>
        <p:nvSpPr>
          <p:cNvPr id="14" name="Text 10"/>
          <p:cNvSpPr/>
          <p:nvPr/>
        </p:nvSpPr>
        <p:spPr>
          <a:xfrm>
            <a:off x="5074920" y="1691640"/>
            <a:ext cx="3566160" cy="320040"/>
          </a:xfrm>
          <a:prstGeom prst="rect">
            <a:avLst/>
          </a:prstGeom>
          <a:noFill/>
          <a:ln/>
        </p:spPr>
        <p:txBody>
          <a:bodyPr wrap="square" lIns="0" tIns="0" rIns="0" bIns="0" rtlCol="0" anchor="ctr"/>
          <a:lstStyle/>
          <a:p>
            <a:pPr indent="0" marL="0">
              <a:buNone/>
            </a:pPr>
            <a:r>
              <a:rPr lang="en-US" sz="1600" b="1" dirty="0">
                <a:solidFill>
                  <a:srgbClr val="1F2937"/>
                </a:solidFill>
                <a:latin typeface="Georgia" pitchFamily="34" charset="0"/>
                <a:ea typeface="Georgia" pitchFamily="34" charset="-122"/>
                <a:cs typeface="Georgia" pitchFamily="34" charset="-120"/>
              </a:rPr>
              <a:t>With the wizard</a:t>
            </a:r>
            <a:endParaRPr lang="en-US" sz="1600" dirty="0"/>
          </a:p>
        </p:txBody>
      </p:sp>
      <p:sp>
        <p:nvSpPr>
          <p:cNvPr id="15" name="Text 11"/>
          <p:cNvSpPr/>
          <p:nvPr/>
        </p:nvSpPr>
        <p:spPr>
          <a:xfrm>
            <a:off x="5166360" y="2103120"/>
            <a:ext cx="3291840" cy="2377440"/>
          </a:xfrm>
          <a:prstGeom prst="rect">
            <a:avLst/>
          </a:prstGeom>
          <a:noFill/>
          <a:ln/>
        </p:spPr>
        <p:txBody>
          <a:bodyPr wrap="square" rtlCol="0" anchor="ctr"/>
          <a:lstStyle/>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Drop the DOCX once</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Pipeline extracts every section + matrix</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Claude routes each section to its spec</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Coordinator reviews + corrects in 3-pane UI</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One click sends everything to the editor</a:t>
            </a:r>
            <a:endParaRPr lang="en-US" sz="1200" dirty="0"/>
          </a:p>
          <a:p>
            <a:pPr indent="0" marL="0">
              <a:spcAft>
                <a:spcPts val="400"/>
              </a:spcAft>
              <a:buNone/>
            </a:pPr>
            <a:r>
              <a:rPr lang="en-US" sz="1200" b="1" i="1" dirty="0">
                <a:solidFill>
                  <a:srgbClr val="059669"/>
                </a:solidFill>
                <a:latin typeface="Calibri" pitchFamily="34" charset="0"/>
                <a:ea typeface="Calibri" pitchFamily="34" charset="-122"/>
                <a:cs typeface="Calibri" pitchFamily="34" charset="-120"/>
              </a:rPr>
              <a:t>~5 minutes parse + ~30 min review</a:t>
            </a:r>
            <a:endParaRPr lang="en-US" sz="1200" dirty="0"/>
          </a:p>
        </p:txBody>
      </p:sp>
      <p:sp>
        <p:nvSpPr>
          <p:cNvPr id="16" name="Shape 12"/>
          <p:cNvSpPr/>
          <p:nvPr/>
        </p:nvSpPr>
        <p:spPr>
          <a:xfrm>
            <a:off x="0" y="5029200"/>
            <a:ext cx="9144000" cy="114300"/>
          </a:xfrm>
          <a:prstGeom prst="rect">
            <a:avLst/>
          </a:prstGeom>
          <a:solidFill>
            <a:srgbClr val="81C784"/>
          </a:solidFill>
          <a:ln w="12700">
            <a:solidFill>
              <a:srgbClr val="81C784"/>
            </a:solidFill>
            <a:prstDash val="solid"/>
          </a:ln>
        </p:spPr>
      </p:sp>
      <p:sp>
        <p:nvSpPr>
          <p:cNvPr id="17" name="Text 13"/>
          <p:cNvSpPr/>
          <p:nvPr/>
        </p:nvSpPr>
        <p:spPr>
          <a:xfrm>
            <a:off x="8595360" y="4846320"/>
            <a:ext cx="457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04D2C"/>
          </a:solidFill>
          <a:ln w="12700">
            <a:solidFill>
              <a:srgbClr val="004D2C"/>
            </a:solidFill>
            <a:prstDash val="solid"/>
          </a:ln>
        </p:spPr>
      </p:sp>
      <p:pic>
        <p:nvPicPr>
          <p:cNvPr id="3" name="Image 0" descr="preencoded.png">    </p:cNvPr>
          <p:cNvPicPr>
            <a:picLocks noChangeAspect="1"/>
          </p:cNvPicPr>
          <p:nvPr/>
        </p:nvPicPr>
        <p:blipFill>
          <a:blip r:embed="rId1"/>
          <a:stretch>
            <a:fillRect/>
          </a:stretch>
        </p:blipFill>
        <p:spPr>
          <a:xfrm>
            <a:off x="91440" y="36576"/>
            <a:ext cx="292608" cy="292608"/>
          </a:xfrm>
          <a:prstGeom prst="rect">
            <a:avLst/>
          </a:prstGeom>
        </p:spPr>
      </p:pic>
      <p:sp>
        <p:nvSpPr>
          <p:cNvPr id="4" name="Text 1"/>
          <p:cNvSpPr/>
          <p:nvPr/>
        </p:nvSpPr>
        <p:spPr>
          <a:xfrm>
            <a:off x="457200" y="0"/>
            <a:ext cx="82296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 Import Wizard · User Guide</a:t>
            </a:r>
            <a:endParaRPr lang="en-US" sz="1000" dirty="0"/>
          </a:p>
        </p:txBody>
      </p:sp>
      <p:sp>
        <p:nvSpPr>
          <p:cNvPr id="5"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006B3F"/>
                </a:solidFill>
                <a:latin typeface="Calibri" pitchFamily="34" charset="0"/>
                <a:ea typeface="Calibri" pitchFamily="34" charset="-122"/>
                <a:cs typeface="Calibri" pitchFamily="34" charset="-120"/>
              </a:rPr>
              <a:t>PIPELINE</a:t>
            </a:r>
            <a:endParaRPr lang="en-US" sz="1100" dirty="0"/>
          </a:p>
        </p:txBody>
      </p:sp>
      <p:sp>
        <p:nvSpPr>
          <p:cNvPr id="6" name="Text 3"/>
          <p:cNvSpPr/>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004D2C"/>
                </a:solidFill>
                <a:latin typeface="Georgia" pitchFamily="34" charset="0"/>
                <a:ea typeface="Georgia" pitchFamily="34" charset="-122"/>
                <a:cs typeface="Georgia" pitchFamily="34" charset="-120"/>
              </a:rPr>
              <a:t>The wizard pipeline — top down</a:t>
            </a:r>
            <a:endParaRPr lang="en-US" sz="3200" dirty="0"/>
          </a:p>
        </p:txBody>
      </p:sp>
      <p:sp>
        <p:nvSpPr>
          <p:cNvPr id="7" name="Shape 4"/>
          <p:cNvSpPr/>
          <p:nvPr/>
        </p:nvSpPr>
        <p:spPr>
          <a:xfrm>
            <a:off x="411480" y="1737360"/>
            <a:ext cx="1554480" cy="16459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8" name="Image 1" descr="preencoded.png">    </p:cNvPr>
          <p:cNvPicPr>
            <a:picLocks noChangeAspect="1"/>
          </p:cNvPicPr>
          <p:nvPr/>
        </p:nvPicPr>
        <p:blipFill>
          <a:blip r:embed="rId2"/>
          <a:stretch>
            <a:fillRect/>
          </a:stretch>
        </p:blipFill>
        <p:spPr>
          <a:xfrm>
            <a:off x="937260" y="1920240"/>
            <a:ext cx="502920" cy="502920"/>
          </a:xfrm>
          <a:prstGeom prst="rect">
            <a:avLst/>
          </a:prstGeom>
        </p:spPr>
      </p:pic>
      <p:sp>
        <p:nvSpPr>
          <p:cNvPr id="9" name="Text 5"/>
          <p:cNvSpPr/>
          <p:nvPr/>
        </p:nvSpPr>
        <p:spPr>
          <a:xfrm>
            <a:off x="502920" y="2514600"/>
            <a:ext cx="1371600" cy="274320"/>
          </a:xfrm>
          <a:prstGeom prst="rect">
            <a:avLst/>
          </a:prstGeom>
          <a:noFill/>
          <a:ln/>
        </p:spPr>
        <p:txBody>
          <a:bodyPr wrap="square" lIns="0" tIns="0" rIns="0" bIns="0" rtlCol="0" anchor="ctr"/>
          <a:lstStyle/>
          <a:p>
            <a:pPr algn="ctr" indent="0" marL="0">
              <a:buNone/>
            </a:pPr>
            <a:r>
              <a:rPr lang="en-US" sz="1400" b="1" dirty="0">
                <a:solidFill>
                  <a:srgbClr val="006B3F"/>
                </a:solidFill>
                <a:latin typeface="Calibri" pitchFamily="34" charset="0"/>
                <a:ea typeface="Calibri" pitchFamily="34" charset="-122"/>
                <a:cs typeface="Calibri" pitchFamily="34" charset="-120"/>
              </a:rPr>
              <a:t>1. Upload</a:t>
            </a:r>
            <a:endParaRPr lang="en-US" sz="1400" dirty="0"/>
          </a:p>
        </p:txBody>
      </p:sp>
      <p:sp>
        <p:nvSpPr>
          <p:cNvPr id="10" name="Text 6"/>
          <p:cNvSpPr/>
          <p:nvPr/>
        </p:nvSpPr>
        <p:spPr>
          <a:xfrm>
            <a:off x="502920" y="2788920"/>
            <a:ext cx="1371600" cy="5029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Drop the .docx</a:t>
            </a:r>
            <a:endParaRPr lang="en-US" sz="1000" dirty="0"/>
          </a:p>
        </p:txBody>
      </p:sp>
      <p:sp>
        <p:nvSpPr>
          <p:cNvPr id="11" name="Shape 7"/>
          <p:cNvSpPr/>
          <p:nvPr/>
        </p:nvSpPr>
        <p:spPr>
          <a:xfrm>
            <a:off x="2103120" y="1737360"/>
            <a:ext cx="1554480" cy="16459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12" name="Image 2" descr="preencoded.png">    </p:cNvPr>
          <p:cNvPicPr>
            <a:picLocks noChangeAspect="1"/>
          </p:cNvPicPr>
          <p:nvPr/>
        </p:nvPicPr>
        <p:blipFill>
          <a:blip r:embed="rId3"/>
          <a:stretch>
            <a:fillRect/>
          </a:stretch>
        </p:blipFill>
        <p:spPr>
          <a:xfrm>
            <a:off x="2628900" y="1920240"/>
            <a:ext cx="502920" cy="502920"/>
          </a:xfrm>
          <a:prstGeom prst="rect">
            <a:avLst/>
          </a:prstGeom>
        </p:spPr>
      </p:pic>
      <p:sp>
        <p:nvSpPr>
          <p:cNvPr id="13" name="Text 8"/>
          <p:cNvSpPr/>
          <p:nvPr/>
        </p:nvSpPr>
        <p:spPr>
          <a:xfrm>
            <a:off x="2194560" y="2514600"/>
            <a:ext cx="1371600" cy="274320"/>
          </a:xfrm>
          <a:prstGeom prst="rect">
            <a:avLst/>
          </a:prstGeom>
          <a:noFill/>
          <a:ln/>
        </p:spPr>
        <p:txBody>
          <a:bodyPr wrap="square" lIns="0" tIns="0" rIns="0" bIns="0" rtlCol="0" anchor="ctr"/>
          <a:lstStyle/>
          <a:p>
            <a:pPr algn="ctr" indent="0" marL="0">
              <a:buNone/>
            </a:pPr>
            <a:r>
              <a:rPr lang="en-US" sz="1400" b="1" dirty="0">
                <a:solidFill>
                  <a:srgbClr val="006B3F"/>
                </a:solidFill>
                <a:latin typeface="Calibri" pitchFamily="34" charset="0"/>
                <a:ea typeface="Calibri" pitchFamily="34" charset="-122"/>
                <a:cs typeface="Calibri" pitchFamily="34" charset="-120"/>
              </a:rPr>
              <a:t>2. Parse</a:t>
            </a:r>
            <a:endParaRPr lang="en-US" sz="1400" dirty="0"/>
          </a:p>
        </p:txBody>
      </p:sp>
      <p:sp>
        <p:nvSpPr>
          <p:cNvPr id="14" name="Text 9"/>
          <p:cNvSpPr/>
          <p:nvPr/>
        </p:nvSpPr>
        <p:spPr>
          <a:xfrm>
            <a:off x="2194560" y="2788920"/>
            <a:ext cx="1371600" cy="5029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S3 → mammoth → walker → matcher</a:t>
            </a:r>
            <a:endParaRPr lang="en-US" sz="1000" dirty="0"/>
          </a:p>
        </p:txBody>
      </p:sp>
      <p:sp>
        <p:nvSpPr>
          <p:cNvPr id="15" name="Shape 10"/>
          <p:cNvSpPr/>
          <p:nvPr/>
        </p:nvSpPr>
        <p:spPr>
          <a:xfrm>
            <a:off x="3794760" y="1737360"/>
            <a:ext cx="1554480" cy="16459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16" name="Image 3" descr="preencoded.png">    </p:cNvPr>
          <p:cNvPicPr>
            <a:picLocks noChangeAspect="1"/>
          </p:cNvPicPr>
          <p:nvPr/>
        </p:nvPicPr>
        <p:blipFill>
          <a:blip r:embed="rId4"/>
          <a:stretch>
            <a:fillRect/>
          </a:stretch>
        </p:blipFill>
        <p:spPr>
          <a:xfrm>
            <a:off x="4320540" y="1920240"/>
            <a:ext cx="502920" cy="502920"/>
          </a:xfrm>
          <a:prstGeom prst="rect">
            <a:avLst/>
          </a:prstGeom>
        </p:spPr>
      </p:pic>
      <p:sp>
        <p:nvSpPr>
          <p:cNvPr id="17" name="Text 11"/>
          <p:cNvSpPr/>
          <p:nvPr/>
        </p:nvSpPr>
        <p:spPr>
          <a:xfrm>
            <a:off x="3886200" y="2514600"/>
            <a:ext cx="1371600" cy="274320"/>
          </a:xfrm>
          <a:prstGeom prst="rect">
            <a:avLst/>
          </a:prstGeom>
          <a:noFill/>
          <a:ln/>
        </p:spPr>
        <p:txBody>
          <a:bodyPr wrap="square" lIns="0" tIns="0" rIns="0" bIns="0" rtlCol="0" anchor="ctr"/>
          <a:lstStyle/>
          <a:p>
            <a:pPr algn="ctr" indent="0" marL="0">
              <a:buNone/>
            </a:pPr>
            <a:r>
              <a:rPr lang="en-US" sz="1400" b="1" dirty="0">
                <a:solidFill>
                  <a:srgbClr val="006B3F"/>
                </a:solidFill>
                <a:latin typeface="Calibri" pitchFamily="34" charset="0"/>
                <a:ea typeface="Calibri" pitchFamily="34" charset="-122"/>
                <a:cs typeface="Calibri" pitchFamily="34" charset="-120"/>
              </a:rPr>
              <a:t>3. Review</a:t>
            </a:r>
            <a:endParaRPr lang="en-US" sz="1400" dirty="0"/>
          </a:p>
        </p:txBody>
      </p:sp>
      <p:sp>
        <p:nvSpPr>
          <p:cNvPr id="18" name="Text 12"/>
          <p:cNvSpPr/>
          <p:nvPr/>
        </p:nvSpPr>
        <p:spPr>
          <a:xfrm>
            <a:off x="3886200" y="2788920"/>
            <a:ext cx="1371600" cy="5029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Spec rail + cards + preview</a:t>
            </a:r>
            <a:endParaRPr lang="en-US" sz="1000" dirty="0"/>
          </a:p>
        </p:txBody>
      </p:sp>
      <p:sp>
        <p:nvSpPr>
          <p:cNvPr id="19" name="Shape 13"/>
          <p:cNvSpPr/>
          <p:nvPr/>
        </p:nvSpPr>
        <p:spPr>
          <a:xfrm>
            <a:off x="5486400" y="1737360"/>
            <a:ext cx="1554480" cy="16459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20" name="Image 4" descr="preencoded.png">    </p:cNvPr>
          <p:cNvPicPr>
            <a:picLocks noChangeAspect="1"/>
          </p:cNvPicPr>
          <p:nvPr/>
        </p:nvPicPr>
        <p:blipFill>
          <a:blip r:embed="rId5"/>
          <a:stretch>
            <a:fillRect/>
          </a:stretch>
        </p:blipFill>
        <p:spPr>
          <a:xfrm>
            <a:off x="6012180" y="1920240"/>
            <a:ext cx="502920" cy="502920"/>
          </a:xfrm>
          <a:prstGeom prst="rect">
            <a:avLst/>
          </a:prstGeom>
        </p:spPr>
      </p:pic>
      <p:sp>
        <p:nvSpPr>
          <p:cNvPr id="21" name="Text 14"/>
          <p:cNvSpPr/>
          <p:nvPr/>
        </p:nvSpPr>
        <p:spPr>
          <a:xfrm>
            <a:off x="5577840" y="2514600"/>
            <a:ext cx="1371600" cy="274320"/>
          </a:xfrm>
          <a:prstGeom prst="rect">
            <a:avLst/>
          </a:prstGeom>
          <a:noFill/>
          <a:ln/>
        </p:spPr>
        <p:txBody>
          <a:bodyPr wrap="square" lIns="0" tIns="0" rIns="0" bIns="0" rtlCol="0" anchor="ctr"/>
          <a:lstStyle/>
          <a:p>
            <a:pPr algn="ctr" indent="0" marL="0">
              <a:buNone/>
            </a:pPr>
            <a:r>
              <a:rPr lang="en-US" sz="1400" b="1" dirty="0">
                <a:solidFill>
                  <a:srgbClr val="006B3F"/>
                </a:solidFill>
                <a:latin typeface="Calibri" pitchFamily="34" charset="0"/>
                <a:ea typeface="Calibri" pitchFamily="34" charset="-122"/>
                <a:cs typeface="Calibri" pitchFamily="34" charset="-120"/>
              </a:rPr>
              <a:t>4. Matrix</a:t>
            </a:r>
            <a:endParaRPr lang="en-US" sz="1400" dirty="0"/>
          </a:p>
        </p:txBody>
      </p:sp>
      <p:sp>
        <p:nvSpPr>
          <p:cNvPr id="22" name="Text 15"/>
          <p:cNvSpPr/>
          <p:nvPr/>
        </p:nvSpPr>
        <p:spPr>
          <a:xfrm>
            <a:off x="5577840" y="2788920"/>
            <a:ext cx="1371600" cy="5029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Map columns to courses</a:t>
            </a:r>
            <a:endParaRPr lang="en-US" sz="1000" dirty="0"/>
          </a:p>
        </p:txBody>
      </p:sp>
      <p:sp>
        <p:nvSpPr>
          <p:cNvPr id="23" name="Shape 16"/>
          <p:cNvSpPr/>
          <p:nvPr/>
        </p:nvSpPr>
        <p:spPr>
          <a:xfrm>
            <a:off x="7178040" y="1737360"/>
            <a:ext cx="1554480" cy="16459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24" name="Image 5" descr="preencoded.png">    </p:cNvPr>
          <p:cNvPicPr>
            <a:picLocks noChangeAspect="1"/>
          </p:cNvPicPr>
          <p:nvPr/>
        </p:nvPicPr>
        <p:blipFill>
          <a:blip r:embed="rId6"/>
          <a:stretch>
            <a:fillRect/>
          </a:stretch>
        </p:blipFill>
        <p:spPr>
          <a:xfrm>
            <a:off x="7703820" y="1920240"/>
            <a:ext cx="502920" cy="502920"/>
          </a:xfrm>
          <a:prstGeom prst="rect">
            <a:avLst/>
          </a:prstGeom>
        </p:spPr>
      </p:pic>
      <p:sp>
        <p:nvSpPr>
          <p:cNvPr id="25" name="Text 17"/>
          <p:cNvSpPr/>
          <p:nvPr/>
        </p:nvSpPr>
        <p:spPr>
          <a:xfrm>
            <a:off x="7269480" y="2514600"/>
            <a:ext cx="1371600" cy="274320"/>
          </a:xfrm>
          <a:prstGeom prst="rect">
            <a:avLst/>
          </a:prstGeom>
          <a:noFill/>
          <a:ln/>
        </p:spPr>
        <p:txBody>
          <a:bodyPr wrap="square" lIns="0" tIns="0" rIns="0" bIns="0" rtlCol="0" anchor="ctr"/>
          <a:lstStyle/>
          <a:p>
            <a:pPr algn="ctr" indent="0" marL="0">
              <a:buNone/>
            </a:pPr>
            <a:r>
              <a:rPr lang="en-US" sz="1400" b="1" dirty="0">
                <a:solidFill>
                  <a:srgbClr val="059669"/>
                </a:solidFill>
                <a:latin typeface="Calibri" pitchFamily="34" charset="0"/>
                <a:ea typeface="Calibri" pitchFamily="34" charset="-122"/>
                <a:cs typeface="Calibri" pitchFamily="34" charset="-120"/>
              </a:rPr>
              <a:t>5. Apply</a:t>
            </a:r>
            <a:endParaRPr lang="en-US" sz="1400" dirty="0"/>
          </a:p>
        </p:txBody>
      </p:sp>
      <p:sp>
        <p:nvSpPr>
          <p:cNvPr id="26" name="Text 18"/>
          <p:cNvSpPr/>
          <p:nvPr/>
        </p:nvSpPr>
        <p:spPr>
          <a:xfrm>
            <a:off x="7269480" y="2788920"/>
            <a:ext cx="1371600" cy="5029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One click to editor</a:t>
            </a:r>
            <a:endParaRPr lang="en-US" sz="1000" dirty="0"/>
          </a:p>
        </p:txBody>
      </p:sp>
      <p:sp>
        <p:nvSpPr>
          <p:cNvPr id="27" name="Shape 19"/>
          <p:cNvSpPr/>
          <p:nvPr/>
        </p:nvSpPr>
        <p:spPr>
          <a:xfrm>
            <a:off x="685800" y="3520440"/>
            <a:ext cx="7772400" cy="45720"/>
          </a:xfrm>
          <a:prstGeom prst="rect">
            <a:avLst/>
          </a:prstGeom>
          <a:solidFill>
            <a:srgbClr val="81C784"/>
          </a:solidFill>
          <a:ln w="12700">
            <a:solidFill>
              <a:srgbClr val="81C784"/>
            </a:solidFill>
            <a:prstDash val="solid"/>
          </a:ln>
        </p:spPr>
      </p:sp>
      <p:sp>
        <p:nvSpPr>
          <p:cNvPr id="28" name="Shape 20"/>
          <p:cNvSpPr/>
          <p:nvPr/>
        </p:nvSpPr>
        <p:spPr>
          <a:xfrm>
            <a:off x="457200" y="3749040"/>
            <a:ext cx="8229600" cy="1051560"/>
          </a:xfrm>
          <a:prstGeom prst="rect">
            <a:avLst/>
          </a:prstGeom>
          <a:solidFill>
            <a:srgbClr val="FFFFFF"/>
          </a:solidFill>
          <a:ln w="12700">
            <a:solidFill>
              <a:srgbClr val="E5E7EB"/>
            </a:solidFill>
            <a:prstDash val="solid"/>
          </a:ln>
        </p:spPr>
      </p:sp>
      <p:sp>
        <p:nvSpPr>
          <p:cNvPr id="29" name="Shape 21"/>
          <p:cNvSpPr/>
          <p:nvPr/>
        </p:nvSpPr>
        <p:spPr>
          <a:xfrm>
            <a:off x="457200" y="3749040"/>
            <a:ext cx="73152" cy="1051560"/>
          </a:xfrm>
          <a:prstGeom prst="rect">
            <a:avLst/>
          </a:prstGeom>
          <a:solidFill>
            <a:srgbClr val="006B3F"/>
          </a:solidFill>
          <a:ln w="12700">
            <a:solidFill>
              <a:srgbClr val="006B3F"/>
            </a:solidFill>
            <a:prstDash val="solid"/>
          </a:ln>
        </p:spPr>
      </p:sp>
      <p:sp>
        <p:nvSpPr>
          <p:cNvPr id="30" name="Text 22"/>
          <p:cNvSpPr/>
          <p:nvPr/>
        </p:nvSpPr>
        <p:spPr>
          <a:xfrm>
            <a:off x="640080" y="3822192"/>
            <a:ext cx="7772400" cy="256032"/>
          </a:xfrm>
          <a:prstGeom prst="rect">
            <a:avLst/>
          </a:prstGeom>
          <a:noFill/>
          <a:ln/>
        </p:spPr>
        <p:txBody>
          <a:bodyPr wrap="square" lIns="0" tIns="0" rIns="0" bIns="0" rtlCol="0" anchor="ctr"/>
          <a:lstStyle/>
          <a:p>
            <a:pPr indent="0" marL="0">
              <a:buNone/>
            </a:pPr>
            <a:r>
              <a:rPr lang="en-US" sz="1200" b="1" dirty="0">
                <a:solidFill>
                  <a:srgbClr val="004D2C"/>
                </a:solidFill>
                <a:latin typeface="Calibri" pitchFamily="34" charset="0"/>
                <a:ea typeface="Calibri" pitchFamily="34" charset="-122"/>
                <a:cs typeface="Calibri" pitchFamily="34" charset="-120"/>
              </a:rPr>
              <a:t>What the coordinator does</a:t>
            </a:r>
            <a:endParaRPr lang="en-US" sz="1200" dirty="0"/>
          </a:p>
        </p:txBody>
      </p:sp>
      <p:sp>
        <p:nvSpPr>
          <p:cNvPr id="31" name="Text 23"/>
          <p:cNvSpPr/>
          <p:nvPr/>
        </p:nvSpPr>
        <p:spPr>
          <a:xfrm>
            <a:off x="640080" y="4069080"/>
            <a:ext cx="7772400" cy="64008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Stages 1, 4, and 5 are essentially clicks. Stage 2 runs unattended (~4 min). Stage 3 is the real work: skim cards, fix anything wrong, hit Apply.</a:t>
            </a:r>
            <a:endParaRPr lang="en-US" sz="1100" dirty="0"/>
          </a:p>
        </p:txBody>
      </p:sp>
      <p:sp>
        <p:nvSpPr>
          <p:cNvPr id="32" name="Shape 24"/>
          <p:cNvSpPr/>
          <p:nvPr/>
        </p:nvSpPr>
        <p:spPr>
          <a:xfrm>
            <a:off x="0" y="5029200"/>
            <a:ext cx="9144000" cy="114300"/>
          </a:xfrm>
          <a:prstGeom prst="rect">
            <a:avLst/>
          </a:prstGeom>
          <a:solidFill>
            <a:srgbClr val="81C784"/>
          </a:solidFill>
          <a:ln w="12700">
            <a:solidFill>
              <a:srgbClr val="81C784"/>
            </a:solidFill>
            <a:prstDash val="solid"/>
          </a:ln>
        </p:spPr>
      </p:sp>
      <p:sp>
        <p:nvSpPr>
          <p:cNvPr id="33" name="Text 25"/>
          <p:cNvSpPr/>
          <p:nvPr/>
        </p:nvSpPr>
        <p:spPr>
          <a:xfrm>
            <a:off x="8595360" y="4846320"/>
            <a:ext cx="457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04D2C"/>
          </a:solidFill>
          <a:ln w="12700">
            <a:solidFill>
              <a:srgbClr val="004D2C"/>
            </a:solidFill>
            <a:prstDash val="solid"/>
          </a:ln>
        </p:spPr>
      </p:sp>
      <p:pic>
        <p:nvPicPr>
          <p:cNvPr id="3" name="Image 0" descr="preencoded.png">    </p:cNvPr>
          <p:cNvPicPr>
            <a:picLocks noChangeAspect="1"/>
          </p:cNvPicPr>
          <p:nvPr/>
        </p:nvPicPr>
        <p:blipFill>
          <a:blip r:embed="rId1"/>
          <a:stretch>
            <a:fillRect/>
          </a:stretch>
        </p:blipFill>
        <p:spPr>
          <a:xfrm>
            <a:off x="91440" y="36576"/>
            <a:ext cx="292608" cy="292608"/>
          </a:xfrm>
          <a:prstGeom prst="rect">
            <a:avLst/>
          </a:prstGeom>
        </p:spPr>
      </p:pic>
      <p:sp>
        <p:nvSpPr>
          <p:cNvPr id="4" name="Text 1"/>
          <p:cNvSpPr/>
          <p:nvPr/>
        </p:nvSpPr>
        <p:spPr>
          <a:xfrm>
            <a:off x="457200" y="0"/>
            <a:ext cx="82296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 Import Wizard · User Guide</a:t>
            </a:r>
            <a:endParaRPr lang="en-US" sz="1000" dirty="0"/>
          </a:p>
        </p:txBody>
      </p:sp>
      <p:sp>
        <p:nvSpPr>
          <p:cNvPr id="5"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006B3F"/>
                </a:solidFill>
                <a:latin typeface="Calibri" pitchFamily="34" charset="0"/>
                <a:ea typeface="Calibri" pitchFamily="34" charset="-122"/>
                <a:cs typeface="Calibri" pitchFamily="34" charset="-120"/>
              </a:rPr>
              <a:t>PRE-FLIGHT</a:t>
            </a:r>
            <a:endParaRPr lang="en-US" sz="1100" dirty="0"/>
          </a:p>
        </p:txBody>
      </p:sp>
      <p:sp>
        <p:nvSpPr>
          <p:cNvPr id="6" name="Text 3"/>
          <p:cNvSpPr/>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004D2C"/>
                </a:solidFill>
                <a:latin typeface="Georgia" pitchFamily="34" charset="0"/>
                <a:ea typeface="Georgia" pitchFamily="34" charset="-122"/>
                <a:cs typeface="Georgia" pitchFamily="34" charset="-120"/>
              </a:rPr>
              <a:t>Before you start</a:t>
            </a:r>
            <a:endParaRPr lang="en-US" sz="3200" dirty="0"/>
          </a:p>
        </p:txBody>
      </p:sp>
      <p:sp>
        <p:nvSpPr>
          <p:cNvPr id="7" name="Shape 4"/>
          <p:cNvSpPr/>
          <p:nvPr/>
        </p:nvSpPr>
        <p:spPr>
          <a:xfrm>
            <a:off x="457200" y="1554480"/>
            <a:ext cx="8229600" cy="71323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8" name="Image 1" descr="preencoded.png">    </p:cNvPr>
          <p:cNvPicPr>
            <a:picLocks noChangeAspect="1"/>
          </p:cNvPicPr>
          <p:nvPr/>
        </p:nvPicPr>
        <p:blipFill>
          <a:blip r:embed="rId2"/>
          <a:stretch>
            <a:fillRect/>
          </a:stretch>
        </p:blipFill>
        <p:spPr>
          <a:xfrm>
            <a:off x="640080" y="1700784"/>
            <a:ext cx="411480" cy="411480"/>
          </a:xfrm>
          <a:prstGeom prst="rect">
            <a:avLst/>
          </a:prstGeom>
        </p:spPr>
      </p:pic>
      <p:sp>
        <p:nvSpPr>
          <p:cNvPr id="9" name="Text 5"/>
          <p:cNvSpPr/>
          <p:nvPr/>
        </p:nvSpPr>
        <p:spPr>
          <a:xfrm>
            <a:off x="1188720" y="1627632"/>
            <a:ext cx="7315200" cy="274320"/>
          </a:xfrm>
          <a:prstGeom prst="rect">
            <a:avLst/>
          </a:prstGeom>
          <a:noFill/>
          <a:ln/>
        </p:spPr>
        <p:txBody>
          <a:bodyPr wrap="square" lIns="0" tIns="0" rIns="0" bIns="0" rtlCol="0" anchor="ctr"/>
          <a:lstStyle/>
          <a:p>
            <a:pPr indent="0" marL="0">
              <a:buNone/>
            </a:pPr>
            <a:r>
              <a:rPr lang="en-US" sz="1400" b="1" dirty="0">
                <a:solidFill>
                  <a:srgbClr val="004D2C"/>
                </a:solidFill>
                <a:latin typeface="Calibri" pitchFamily="34" charset="0"/>
                <a:ea typeface="Calibri" pitchFamily="34" charset="-122"/>
                <a:cs typeface="Calibri" pitchFamily="34" charset="-120"/>
              </a:rPr>
              <a:t>Have your DOCX ready</a:t>
            </a:r>
            <a:endParaRPr lang="en-US" sz="1400" dirty="0"/>
          </a:p>
        </p:txBody>
      </p:sp>
      <p:sp>
        <p:nvSpPr>
          <p:cNvPr id="10" name="Text 6"/>
          <p:cNvSpPr/>
          <p:nvPr/>
        </p:nvSpPr>
        <p:spPr>
          <a:xfrm>
            <a:off x="1188720" y="1901952"/>
            <a:ext cx="7315200" cy="36576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A finished self-study .docx (PDF is a fallback). Up to 100 MB.</a:t>
            </a:r>
            <a:endParaRPr lang="en-US" sz="1100" dirty="0"/>
          </a:p>
        </p:txBody>
      </p:sp>
      <p:sp>
        <p:nvSpPr>
          <p:cNvPr id="11" name="Shape 7"/>
          <p:cNvSpPr/>
          <p:nvPr/>
        </p:nvSpPr>
        <p:spPr>
          <a:xfrm>
            <a:off x="457200" y="2331720"/>
            <a:ext cx="8229600" cy="71323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12" name="Image 2" descr="preencoded.png">    </p:cNvPr>
          <p:cNvPicPr>
            <a:picLocks noChangeAspect="1"/>
          </p:cNvPicPr>
          <p:nvPr/>
        </p:nvPicPr>
        <p:blipFill>
          <a:blip r:embed="rId3"/>
          <a:stretch>
            <a:fillRect/>
          </a:stretch>
        </p:blipFill>
        <p:spPr>
          <a:xfrm>
            <a:off x="640080" y="2478024"/>
            <a:ext cx="411480" cy="411480"/>
          </a:xfrm>
          <a:prstGeom prst="rect">
            <a:avLst/>
          </a:prstGeom>
        </p:spPr>
      </p:pic>
      <p:sp>
        <p:nvSpPr>
          <p:cNvPr id="13" name="Text 8"/>
          <p:cNvSpPr/>
          <p:nvPr/>
        </p:nvSpPr>
        <p:spPr>
          <a:xfrm>
            <a:off x="1188720" y="2404872"/>
            <a:ext cx="7315200" cy="274320"/>
          </a:xfrm>
          <a:prstGeom prst="rect">
            <a:avLst/>
          </a:prstGeom>
          <a:noFill/>
          <a:ln/>
        </p:spPr>
        <p:txBody>
          <a:bodyPr wrap="square" lIns="0" tIns="0" rIns="0" bIns="0" rtlCol="0" anchor="ctr"/>
          <a:lstStyle/>
          <a:p>
            <a:pPr indent="0" marL="0">
              <a:buNone/>
            </a:pPr>
            <a:r>
              <a:rPr lang="en-US" sz="1400" b="1" dirty="0">
                <a:solidFill>
                  <a:srgbClr val="004D2C"/>
                </a:solidFill>
                <a:latin typeface="Calibri" pitchFamily="34" charset="0"/>
                <a:ea typeface="Calibri" pitchFamily="34" charset="-122"/>
                <a:cs typeface="Calibri" pitchFamily="34" charset="-120"/>
              </a:rPr>
              <a:t>Program Coordinator role</a:t>
            </a:r>
            <a:endParaRPr lang="en-US" sz="1400" dirty="0"/>
          </a:p>
        </p:txBody>
      </p:sp>
      <p:sp>
        <p:nvSpPr>
          <p:cNvPr id="14" name="Text 9"/>
          <p:cNvSpPr/>
          <p:nvPr/>
        </p:nvSpPr>
        <p:spPr>
          <a:xfrm>
            <a:off x="1188720" y="2679192"/>
            <a:ext cx="7315200" cy="36576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Only Coordinators see the Import File Wizard tab; Readers / Lead Readers do not.</a:t>
            </a:r>
            <a:endParaRPr lang="en-US" sz="1100" dirty="0"/>
          </a:p>
        </p:txBody>
      </p:sp>
      <p:sp>
        <p:nvSpPr>
          <p:cNvPr id="15" name="Shape 10"/>
          <p:cNvSpPr/>
          <p:nvPr/>
        </p:nvSpPr>
        <p:spPr>
          <a:xfrm>
            <a:off x="457200" y="3108960"/>
            <a:ext cx="8229600" cy="71323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16" name="Image 3" descr="preencoded.png">    </p:cNvPr>
          <p:cNvPicPr>
            <a:picLocks noChangeAspect="1"/>
          </p:cNvPicPr>
          <p:nvPr/>
        </p:nvPicPr>
        <p:blipFill>
          <a:blip r:embed="rId4"/>
          <a:stretch>
            <a:fillRect/>
          </a:stretch>
        </p:blipFill>
        <p:spPr>
          <a:xfrm>
            <a:off x="640080" y="3255264"/>
            <a:ext cx="411480" cy="411480"/>
          </a:xfrm>
          <a:prstGeom prst="rect">
            <a:avLst/>
          </a:prstGeom>
        </p:spPr>
      </p:pic>
      <p:sp>
        <p:nvSpPr>
          <p:cNvPr id="17" name="Text 11"/>
          <p:cNvSpPr/>
          <p:nvPr/>
        </p:nvSpPr>
        <p:spPr>
          <a:xfrm>
            <a:off x="1188720" y="3182112"/>
            <a:ext cx="7315200" cy="274320"/>
          </a:xfrm>
          <a:prstGeom prst="rect">
            <a:avLst/>
          </a:prstGeom>
          <a:noFill/>
          <a:ln/>
        </p:spPr>
        <p:txBody>
          <a:bodyPr wrap="square" lIns="0" tIns="0" rIns="0" bIns="0" rtlCol="0" anchor="ctr"/>
          <a:lstStyle/>
          <a:p>
            <a:pPr indent="0" marL="0">
              <a:buNone/>
            </a:pPr>
            <a:r>
              <a:rPr lang="en-US" sz="1400" b="1" dirty="0">
                <a:solidFill>
                  <a:srgbClr val="004D2C"/>
                </a:solidFill>
                <a:latin typeface="Calibri" pitchFamily="34" charset="0"/>
                <a:ea typeface="Calibri" pitchFamily="34" charset="-122"/>
                <a:cs typeface="Calibri" pitchFamily="34" charset="-120"/>
              </a:rPr>
              <a:t>Hard-refresh first</a:t>
            </a:r>
            <a:endParaRPr lang="en-US" sz="1400" dirty="0"/>
          </a:p>
        </p:txBody>
      </p:sp>
      <p:sp>
        <p:nvSpPr>
          <p:cNvPr id="18" name="Text 12"/>
          <p:cNvSpPr/>
          <p:nvPr/>
        </p:nvSpPr>
        <p:spPr>
          <a:xfrm>
            <a:off x="1188720" y="3456432"/>
            <a:ext cx="7315200" cy="36576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After any deploy: ⌘⇧R (Mac) or Ctrl⇧R (PC) to flush the old client bundle.</a:t>
            </a:r>
            <a:endParaRPr lang="en-US" sz="1100" dirty="0"/>
          </a:p>
        </p:txBody>
      </p:sp>
      <p:sp>
        <p:nvSpPr>
          <p:cNvPr id="19" name="Shape 13"/>
          <p:cNvSpPr/>
          <p:nvPr/>
        </p:nvSpPr>
        <p:spPr>
          <a:xfrm>
            <a:off x="457200" y="3886200"/>
            <a:ext cx="8229600" cy="71323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20" name="Image 4" descr="preencoded.png">    </p:cNvPr>
          <p:cNvPicPr>
            <a:picLocks noChangeAspect="1"/>
          </p:cNvPicPr>
          <p:nvPr/>
        </p:nvPicPr>
        <p:blipFill>
          <a:blip r:embed="rId5"/>
          <a:stretch>
            <a:fillRect/>
          </a:stretch>
        </p:blipFill>
        <p:spPr>
          <a:xfrm>
            <a:off x="640080" y="4032504"/>
            <a:ext cx="411480" cy="411480"/>
          </a:xfrm>
          <a:prstGeom prst="rect">
            <a:avLst/>
          </a:prstGeom>
        </p:spPr>
      </p:pic>
      <p:sp>
        <p:nvSpPr>
          <p:cNvPr id="21" name="Text 14"/>
          <p:cNvSpPr/>
          <p:nvPr/>
        </p:nvSpPr>
        <p:spPr>
          <a:xfrm>
            <a:off x="1188720" y="3959352"/>
            <a:ext cx="7315200" cy="274320"/>
          </a:xfrm>
          <a:prstGeom prst="rect">
            <a:avLst/>
          </a:prstGeom>
          <a:noFill/>
          <a:ln/>
        </p:spPr>
        <p:txBody>
          <a:bodyPr wrap="square" lIns="0" tIns="0" rIns="0" bIns="0" rtlCol="0" anchor="ctr"/>
          <a:lstStyle/>
          <a:p>
            <a:pPr indent="0" marL="0">
              <a:buNone/>
            </a:pPr>
            <a:r>
              <a:rPr lang="en-US" sz="1400" b="1" dirty="0">
                <a:solidFill>
                  <a:srgbClr val="004D2C"/>
                </a:solidFill>
                <a:latin typeface="Calibri" pitchFamily="34" charset="0"/>
                <a:ea typeface="Calibri" pitchFamily="34" charset="-122"/>
                <a:cs typeface="Calibri" pitchFamily="34" charset="-120"/>
              </a:rPr>
              <a:t>OpenAI balance &gt; $1</a:t>
            </a:r>
            <a:endParaRPr lang="en-US" sz="1400" dirty="0"/>
          </a:p>
        </p:txBody>
      </p:sp>
      <p:sp>
        <p:nvSpPr>
          <p:cNvPr id="22" name="Text 15"/>
          <p:cNvSpPr/>
          <p:nvPr/>
        </p:nvSpPr>
        <p:spPr>
          <a:xfrm>
            <a:off x="1188720" y="4233672"/>
            <a:ext cx="7315200" cy="36576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A full Stevenson-scale run is ~$0.45 in OpenAI embeddings + Claude Haiku. Set auto-recharge in your OpenAI billing page to avoid the wizard halting mid-run.</a:t>
            </a:r>
            <a:endParaRPr lang="en-US" sz="1100" dirty="0"/>
          </a:p>
        </p:txBody>
      </p:sp>
      <p:sp>
        <p:nvSpPr>
          <p:cNvPr id="23" name="Shape 16"/>
          <p:cNvSpPr/>
          <p:nvPr/>
        </p:nvSpPr>
        <p:spPr>
          <a:xfrm>
            <a:off x="0" y="5029200"/>
            <a:ext cx="9144000" cy="114300"/>
          </a:xfrm>
          <a:prstGeom prst="rect">
            <a:avLst/>
          </a:prstGeom>
          <a:solidFill>
            <a:srgbClr val="81C784"/>
          </a:solidFill>
          <a:ln w="12700">
            <a:solidFill>
              <a:srgbClr val="81C784"/>
            </a:solidFill>
            <a:prstDash val="solid"/>
          </a:ln>
        </p:spPr>
      </p:sp>
      <p:sp>
        <p:nvSpPr>
          <p:cNvPr id="24" name="Text 17"/>
          <p:cNvSpPr/>
          <p:nvPr/>
        </p:nvSpPr>
        <p:spPr>
          <a:xfrm>
            <a:off x="8595360" y="4846320"/>
            <a:ext cx="457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04D2C"/>
          </a:solidFill>
          <a:ln w="12700">
            <a:solidFill>
              <a:srgbClr val="004D2C"/>
            </a:solidFill>
            <a:prstDash val="solid"/>
          </a:ln>
        </p:spPr>
      </p:sp>
      <p:pic>
        <p:nvPicPr>
          <p:cNvPr id="3" name="Image 0" descr="preencoded.png">    </p:cNvPr>
          <p:cNvPicPr>
            <a:picLocks noChangeAspect="1"/>
          </p:cNvPicPr>
          <p:nvPr/>
        </p:nvPicPr>
        <p:blipFill>
          <a:blip r:embed="rId1"/>
          <a:stretch>
            <a:fillRect/>
          </a:stretch>
        </p:blipFill>
        <p:spPr>
          <a:xfrm>
            <a:off x="91440" y="36576"/>
            <a:ext cx="292608" cy="292608"/>
          </a:xfrm>
          <a:prstGeom prst="rect">
            <a:avLst/>
          </a:prstGeom>
        </p:spPr>
      </p:pic>
      <p:sp>
        <p:nvSpPr>
          <p:cNvPr id="4" name="Text 1"/>
          <p:cNvSpPr/>
          <p:nvPr/>
        </p:nvSpPr>
        <p:spPr>
          <a:xfrm>
            <a:off x="457200" y="0"/>
            <a:ext cx="82296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 Import Wizard · User Guide</a:t>
            </a:r>
            <a:endParaRPr lang="en-US" sz="1000" dirty="0"/>
          </a:p>
        </p:txBody>
      </p:sp>
      <p:sp>
        <p:nvSpPr>
          <p:cNvPr id="5"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006B3F"/>
                </a:solidFill>
                <a:latin typeface="Calibri" pitchFamily="34" charset="0"/>
                <a:ea typeface="Calibri" pitchFamily="34" charset="-122"/>
                <a:cs typeface="Calibri" pitchFamily="34" charset="-120"/>
              </a:rPr>
              <a:t>STEP 1 OF 5</a:t>
            </a:r>
            <a:endParaRPr lang="en-US" sz="1100" dirty="0"/>
          </a:p>
        </p:txBody>
      </p:sp>
      <p:sp>
        <p:nvSpPr>
          <p:cNvPr id="6" name="Text 3"/>
          <p:cNvSpPr/>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004D2C"/>
                </a:solidFill>
                <a:latin typeface="Georgia" pitchFamily="34" charset="0"/>
                <a:ea typeface="Georgia" pitchFamily="34" charset="-122"/>
                <a:cs typeface="Georgia" pitchFamily="34" charset="-120"/>
              </a:rPr>
              <a:t>Step 1 — Upload</a:t>
            </a:r>
            <a:endParaRPr lang="en-US" sz="3200" dirty="0"/>
          </a:p>
        </p:txBody>
      </p:sp>
      <p:sp>
        <p:nvSpPr>
          <p:cNvPr id="7" name="Shape 4"/>
          <p:cNvSpPr/>
          <p:nvPr/>
        </p:nvSpPr>
        <p:spPr>
          <a:xfrm>
            <a:off x="457200" y="1554480"/>
            <a:ext cx="4114800" cy="31089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8" name="Text 5"/>
          <p:cNvSpPr/>
          <p:nvPr/>
        </p:nvSpPr>
        <p:spPr>
          <a:xfrm>
            <a:off x="640080" y="1645920"/>
            <a:ext cx="3840480" cy="274320"/>
          </a:xfrm>
          <a:prstGeom prst="rect">
            <a:avLst/>
          </a:prstGeom>
          <a:noFill/>
          <a:ln/>
        </p:spPr>
        <p:txBody>
          <a:bodyPr wrap="square" lIns="0" tIns="0" rIns="0" bIns="0" rtlCol="0" anchor="ctr"/>
          <a:lstStyle/>
          <a:p>
            <a:pPr indent="0" marL="0">
              <a:buNone/>
            </a:pPr>
            <a:r>
              <a:rPr lang="en-US" sz="1300" b="1" spc="400" kern="0" dirty="0">
                <a:solidFill>
                  <a:srgbClr val="004D2C"/>
                </a:solidFill>
                <a:latin typeface="Calibri" pitchFamily="34" charset="0"/>
                <a:ea typeface="Calibri" pitchFamily="34" charset="-122"/>
                <a:cs typeface="Calibri" pitchFamily="34" charset="-120"/>
              </a:rPr>
              <a:t>How</a:t>
            </a:r>
            <a:endParaRPr lang="en-US" sz="1300" dirty="0"/>
          </a:p>
        </p:txBody>
      </p:sp>
      <p:sp>
        <p:nvSpPr>
          <p:cNvPr id="9" name="Text 6"/>
          <p:cNvSpPr/>
          <p:nvPr/>
        </p:nvSpPr>
        <p:spPr>
          <a:xfrm>
            <a:off x="777240" y="1965960"/>
            <a:ext cx="3840480" cy="2560320"/>
          </a:xfrm>
          <a:prstGeom prst="rect">
            <a:avLst/>
          </a:prstGeom>
          <a:noFill/>
          <a:ln/>
        </p:spPr>
        <p:txBody>
          <a:bodyPr wrap="square" rtlCol="0" anchor="ctr"/>
          <a:lstStyle/>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Open the Self-Study Editor for your submission</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Click the Import File Wizard tab in the top bar</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Drag the .docx into the drop zone (or click to browse)</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Pick the program level (Associate / Baccalaureate / Master’s)</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Tick "This is a re-import" if you’re replacing a prior run</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Click Next</a:t>
            </a:r>
            <a:endParaRPr lang="en-US" sz="1100" dirty="0"/>
          </a:p>
        </p:txBody>
      </p:sp>
      <p:sp>
        <p:nvSpPr>
          <p:cNvPr id="10" name="Shape 7"/>
          <p:cNvSpPr/>
          <p:nvPr/>
        </p:nvSpPr>
        <p:spPr>
          <a:xfrm>
            <a:off x="4754880" y="1554480"/>
            <a:ext cx="3931920" cy="31089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11" name="Shape 8"/>
          <p:cNvSpPr/>
          <p:nvPr/>
        </p:nvSpPr>
        <p:spPr>
          <a:xfrm>
            <a:off x="4754880" y="1554480"/>
            <a:ext cx="73152" cy="3108960"/>
          </a:xfrm>
          <a:prstGeom prst="rect">
            <a:avLst/>
          </a:prstGeom>
          <a:solidFill>
            <a:srgbClr val="059669"/>
          </a:solidFill>
          <a:ln w="12700">
            <a:solidFill>
              <a:srgbClr val="059669"/>
            </a:solidFill>
            <a:prstDash val="solid"/>
          </a:ln>
        </p:spPr>
      </p:sp>
      <p:sp>
        <p:nvSpPr>
          <p:cNvPr id="12" name="Text 9"/>
          <p:cNvSpPr/>
          <p:nvPr/>
        </p:nvSpPr>
        <p:spPr>
          <a:xfrm>
            <a:off x="4983480" y="1645920"/>
            <a:ext cx="3657600" cy="274320"/>
          </a:xfrm>
          <a:prstGeom prst="rect">
            <a:avLst/>
          </a:prstGeom>
          <a:noFill/>
          <a:ln/>
        </p:spPr>
        <p:txBody>
          <a:bodyPr wrap="square" lIns="0" tIns="0" rIns="0" bIns="0" rtlCol="0" anchor="ctr"/>
          <a:lstStyle/>
          <a:p>
            <a:pPr indent="0" marL="0">
              <a:buNone/>
            </a:pPr>
            <a:r>
              <a:rPr lang="en-US" sz="1300" b="1" spc="400" kern="0" dirty="0">
                <a:solidFill>
                  <a:srgbClr val="059669"/>
                </a:solidFill>
                <a:latin typeface="Calibri" pitchFamily="34" charset="0"/>
                <a:ea typeface="Calibri" pitchFamily="34" charset="-122"/>
                <a:cs typeface="Calibri" pitchFamily="34" charset="-120"/>
              </a:rPr>
              <a:t>TEST CHECKLIST</a:t>
            </a:r>
            <a:endParaRPr lang="en-US" sz="1300" dirty="0"/>
          </a:p>
        </p:txBody>
      </p:sp>
      <p:sp>
        <p:nvSpPr>
          <p:cNvPr id="13" name="Text 10"/>
          <p:cNvSpPr/>
          <p:nvPr/>
        </p:nvSpPr>
        <p:spPr>
          <a:xfrm>
            <a:off x="5074920" y="1965960"/>
            <a:ext cx="3383280" cy="2560320"/>
          </a:xfrm>
          <a:prstGeom prst="rect">
            <a:avLst/>
          </a:prstGeom>
          <a:noFill/>
          <a:ln/>
        </p:spPr>
        <p:txBody>
          <a:bodyPr wrap="square" rtlCol="0" anchor="ctr"/>
          <a:lstStyle/>
          <a:p>
            <a:pPr marL="342900" indent="-342900">
              <a:spcAft>
                <a:spcPts val="500"/>
              </a:spcAft>
              <a:buSzPct val="100000"/>
              <a:buChar char="•"/>
            </a:pPr>
            <a:r>
              <a:rPr lang="en-US" sz="1100" dirty="0">
                <a:solidFill>
                  <a:srgbClr val="1F2937"/>
                </a:solidFill>
                <a:latin typeface="Calibri" pitchFamily="34" charset="0"/>
                <a:ea typeface="Calibri" pitchFamily="34" charset="-122"/>
                <a:cs typeface="Calibri" pitchFamily="34" charset="-120"/>
              </a:rPr>
              <a:t>Drag-drop accepts the file (no auto-bounce)</a:t>
            </a:r>
            <a:endParaRPr lang="en-US" sz="1100" dirty="0"/>
          </a:p>
          <a:p>
            <a:pPr marL="342900" indent="-342900">
              <a:spcAft>
                <a:spcPts val="500"/>
              </a:spcAft>
              <a:buSzPct val="100000"/>
              <a:buChar char="•"/>
            </a:pPr>
            <a:r>
              <a:rPr lang="en-US" sz="1100" dirty="0">
                <a:solidFill>
                  <a:srgbClr val="1F2937"/>
                </a:solidFill>
                <a:latin typeface="Calibri" pitchFamily="34" charset="0"/>
                <a:ea typeface="Calibri" pitchFamily="34" charset="-122"/>
                <a:cs typeface="Calibri" pitchFamily="34" charset="-120"/>
              </a:rPr>
              <a:t>Upload progress bar reaches 100%</a:t>
            </a:r>
            <a:endParaRPr lang="en-US" sz="1100" dirty="0"/>
          </a:p>
          <a:p>
            <a:pPr marL="342900" indent="-342900">
              <a:spcAft>
                <a:spcPts val="500"/>
              </a:spcAft>
              <a:buSzPct val="100000"/>
              <a:buChar char="•"/>
            </a:pPr>
            <a:r>
              <a:rPr lang="en-US" sz="1100" dirty="0">
                <a:solidFill>
                  <a:srgbClr val="1F2937"/>
                </a:solidFill>
                <a:latin typeface="Calibri" pitchFamily="34" charset="0"/>
                <a:ea typeface="Calibri" pitchFamily="34" charset="-122"/>
                <a:cs typeface="Calibri" pitchFamily="34" charset="-120"/>
              </a:rPr>
              <a:t>"Starting AI service…" appears briefly</a:t>
            </a:r>
            <a:endParaRPr lang="en-US" sz="1100" dirty="0"/>
          </a:p>
          <a:p>
            <a:pPr marL="342900" indent="-342900">
              <a:spcAft>
                <a:spcPts val="500"/>
              </a:spcAft>
              <a:buSzPct val="100000"/>
              <a:buChar char="•"/>
            </a:pPr>
            <a:r>
              <a:rPr lang="en-US" sz="1100" dirty="0">
                <a:solidFill>
                  <a:srgbClr val="1F2937"/>
                </a:solidFill>
                <a:latin typeface="Calibri" pitchFamily="34" charset="0"/>
                <a:ea typeface="Calibri" pitchFamily="34" charset="-122"/>
                <a:cs typeface="Calibri" pitchFamily="34" charset="-120"/>
              </a:rPr>
              <a:t>Page advances to the Parse step</a:t>
            </a:r>
            <a:endParaRPr lang="en-US" sz="1100" dirty="0"/>
          </a:p>
          <a:p>
            <a:pPr marL="342900" indent="-342900">
              <a:spcAft>
                <a:spcPts val="500"/>
              </a:spcAft>
              <a:buSzPct val="100000"/>
              <a:buChar char="•"/>
            </a:pPr>
            <a:r>
              <a:rPr lang="en-US" sz="1100" dirty="0">
                <a:solidFill>
                  <a:srgbClr val="1F2937"/>
                </a:solidFill>
                <a:latin typeface="Calibri" pitchFamily="34" charset="0"/>
                <a:ea typeface="Calibri" pitchFamily="34" charset="-122"/>
                <a:cs typeface="Calibri" pitchFamily="34" charset="-120"/>
              </a:rPr>
              <a:t>If error red banner: "Start over" returns you cleanly to a fresh upload form (no stale error left over).</a:t>
            </a:r>
            <a:endParaRPr lang="en-US" sz="1100" dirty="0"/>
          </a:p>
        </p:txBody>
      </p:sp>
      <p:sp>
        <p:nvSpPr>
          <p:cNvPr id="14" name="Shape 11"/>
          <p:cNvSpPr/>
          <p:nvPr/>
        </p:nvSpPr>
        <p:spPr>
          <a:xfrm>
            <a:off x="0" y="5029200"/>
            <a:ext cx="9144000" cy="114300"/>
          </a:xfrm>
          <a:prstGeom prst="rect">
            <a:avLst/>
          </a:prstGeom>
          <a:solidFill>
            <a:srgbClr val="81C784"/>
          </a:solidFill>
          <a:ln w="12700">
            <a:solidFill>
              <a:srgbClr val="81C784"/>
            </a:solidFill>
            <a:prstDash val="solid"/>
          </a:ln>
        </p:spPr>
      </p:sp>
      <p:sp>
        <p:nvSpPr>
          <p:cNvPr id="15" name="Text 12"/>
          <p:cNvSpPr/>
          <p:nvPr/>
        </p:nvSpPr>
        <p:spPr>
          <a:xfrm>
            <a:off x="8595360" y="4846320"/>
            <a:ext cx="457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04D2C"/>
          </a:solidFill>
          <a:ln w="12700">
            <a:solidFill>
              <a:srgbClr val="004D2C"/>
            </a:solidFill>
            <a:prstDash val="solid"/>
          </a:ln>
        </p:spPr>
      </p:sp>
      <p:pic>
        <p:nvPicPr>
          <p:cNvPr id="3" name="Image 0" descr="preencoded.png">    </p:cNvPr>
          <p:cNvPicPr>
            <a:picLocks noChangeAspect="1"/>
          </p:cNvPicPr>
          <p:nvPr/>
        </p:nvPicPr>
        <p:blipFill>
          <a:blip r:embed="rId1"/>
          <a:stretch>
            <a:fillRect/>
          </a:stretch>
        </p:blipFill>
        <p:spPr>
          <a:xfrm>
            <a:off x="91440" y="36576"/>
            <a:ext cx="292608" cy="292608"/>
          </a:xfrm>
          <a:prstGeom prst="rect">
            <a:avLst/>
          </a:prstGeom>
        </p:spPr>
      </p:pic>
      <p:sp>
        <p:nvSpPr>
          <p:cNvPr id="4" name="Text 1"/>
          <p:cNvSpPr/>
          <p:nvPr/>
        </p:nvSpPr>
        <p:spPr>
          <a:xfrm>
            <a:off x="457200" y="0"/>
            <a:ext cx="82296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 Import Wizard · User Guide</a:t>
            </a:r>
            <a:endParaRPr lang="en-US" sz="1000" dirty="0"/>
          </a:p>
        </p:txBody>
      </p:sp>
      <p:sp>
        <p:nvSpPr>
          <p:cNvPr id="5"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006B3F"/>
                </a:solidFill>
                <a:latin typeface="Calibri" pitchFamily="34" charset="0"/>
                <a:ea typeface="Calibri" pitchFamily="34" charset="-122"/>
                <a:cs typeface="Calibri" pitchFamily="34" charset="-120"/>
              </a:rPr>
              <a:t>STEP 2 OF 5</a:t>
            </a:r>
            <a:endParaRPr lang="en-US" sz="1100" dirty="0"/>
          </a:p>
        </p:txBody>
      </p:sp>
      <p:sp>
        <p:nvSpPr>
          <p:cNvPr id="6" name="Text 3"/>
          <p:cNvSpPr/>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004D2C"/>
                </a:solidFill>
                <a:latin typeface="Georgia" pitchFamily="34" charset="0"/>
                <a:ea typeface="Georgia" pitchFamily="34" charset="-122"/>
                <a:cs typeface="Georgia" pitchFamily="34" charset="-120"/>
              </a:rPr>
              <a:t>Step 2 — Parse</a:t>
            </a:r>
            <a:endParaRPr lang="en-US" sz="3200" dirty="0"/>
          </a:p>
        </p:txBody>
      </p:sp>
      <p:sp>
        <p:nvSpPr>
          <p:cNvPr id="7" name="Shape 4"/>
          <p:cNvSpPr/>
          <p:nvPr/>
        </p:nvSpPr>
        <p:spPr>
          <a:xfrm>
            <a:off x="434340" y="1645920"/>
            <a:ext cx="1143000" cy="7315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8" name="Shape 5"/>
          <p:cNvSpPr/>
          <p:nvPr/>
        </p:nvSpPr>
        <p:spPr>
          <a:xfrm>
            <a:off x="434340" y="1645920"/>
            <a:ext cx="1143000" cy="73152"/>
          </a:xfrm>
          <a:prstGeom prst="rect">
            <a:avLst/>
          </a:prstGeom>
          <a:solidFill>
            <a:srgbClr val="006B3F"/>
          </a:solidFill>
          <a:ln w="12700">
            <a:solidFill>
              <a:srgbClr val="006B3F"/>
            </a:solidFill>
            <a:prstDash val="solid"/>
          </a:ln>
        </p:spPr>
      </p:sp>
      <p:sp>
        <p:nvSpPr>
          <p:cNvPr id="9" name="Text 6"/>
          <p:cNvSpPr/>
          <p:nvPr/>
        </p:nvSpPr>
        <p:spPr>
          <a:xfrm>
            <a:off x="480060" y="1783080"/>
            <a:ext cx="1051560" cy="292608"/>
          </a:xfrm>
          <a:prstGeom prst="rect">
            <a:avLst/>
          </a:prstGeom>
          <a:noFill/>
          <a:ln/>
        </p:spPr>
        <p:txBody>
          <a:bodyPr wrap="square" lIns="0" tIns="0" rIns="0" bIns="0" rtlCol="0" anchor="ctr"/>
          <a:lstStyle/>
          <a:p>
            <a:pPr algn="ctr" indent="0" marL="0">
              <a:buNone/>
            </a:pPr>
            <a:r>
              <a:rPr lang="en-US" sz="1000" b="1" dirty="0">
                <a:solidFill>
                  <a:srgbClr val="004D2C"/>
                </a:solidFill>
                <a:latin typeface="Consolas" pitchFamily="34" charset="0"/>
                <a:ea typeface="Consolas" pitchFamily="34" charset="-122"/>
                <a:cs typeface="Consolas" pitchFamily="34" charset="-120"/>
              </a:rPr>
              <a:t>download_s3</a:t>
            </a:r>
            <a:endParaRPr lang="en-US" sz="1000" dirty="0"/>
          </a:p>
        </p:txBody>
      </p:sp>
      <p:sp>
        <p:nvSpPr>
          <p:cNvPr id="10" name="Text 7"/>
          <p:cNvSpPr/>
          <p:nvPr/>
        </p:nvSpPr>
        <p:spPr>
          <a:xfrm>
            <a:off x="480060" y="2075688"/>
            <a:ext cx="105156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~1s</a:t>
            </a:r>
            <a:endParaRPr lang="en-US" sz="1000" dirty="0"/>
          </a:p>
        </p:txBody>
      </p:sp>
      <p:sp>
        <p:nvSpPr>
          <p:cNvPr id="11" name="Shape 8"/>
          <p:cNvSpPr/>
          <p:nvPr/>
        </p:nvSpPr>
        <p:spPr>
          <a:xfrm>
            <a:off x="1623060" y="1645920"/>
            <a:ext cx="1143000" cy="7315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12" name="Shape 9"/>
          <p:cNvSpPr/>
          <p:nvPr/>
        </p:nvSpPr>
        <p:spPr>
          <a:xfrm>
            <a:off x="1623060" y="1645920"/>
            <a:ext cx="1143000" cy="73152"/>
          </a:xfrm>
          <a:prstGeom prst="rect">
            <a:avLst/>
          </a:prstGeom>
          <a:solidFill>
            <a:srgbClr val="006B3F"/>
          </a:solidFill>
          <a:ln w="12700">
            <a:solidFill>
              <a:srgbClr val="006B3F"/>
            </a:solidFill>
            <a:prstDash val="solid"/>
          </a:ln>
        </p:spPr>
      </p:sp>
      <p:sp>
        <p:nvSpPr>
          <p:cNvPr id="13" name="Text 10"/>
          <p:cNvSpPr/>
          <p:nvPr/>
        </p:nvSpPr>
        <p:spPr>
          <a:xfrm>
            <a:off x="1668780" y="1783080"/>
            <a:ext cx="1051560" cy="292608"/>
          </a:xfrm>
          <a:prstGeom prst="rect">
            <a:avLst/>
          </a:prstGeom>
          <a:noFill/>
          <a:ln/>
        </p:spPr>
        <p:txBody>
          <a:bodyPr wrap="square" lIns="0" tIns="0" rIns="0" bIns="0" rtlCol="0" anchor="ctr"/>
          <a:lstStyle/>
          <a:p>
            <a:pPr algn="ctr" indent="0" marL="0">
              <a:buNone/>
            </a:pPr>
            <a:r>
              <a:rPr lang="en-US" sz="1000" b="1" dirty="0">
                <a:solidFill>
                  <a:srgbClr val="004D2C"/>
                </a:solidFill>
                <a:latin typeface="Consolas" pitchFamily="34" charset="0"/>
                <a:ea typeface="Consolas" pitchFamily="34" charset="-122"/>
                <a:cs typeface="Consolas" pitchFamily="34" charset="-120"/>
              </a:rPr>
              <a:t>format_detect</a:t>
            </a:r>
            <a:endParaRPr lang="en-US" sz="1000" dirty="0"/>
          </a:p>
        </p:txBody>
      </p:sp>
      <p:sp>
        <p:nvSpPr>
          <p:cNvPr id="14" name="Text 11"/>
          <p:cNvSpPr/>
          <p:nvPr/>
        </p:nvSpPr>
        <p:spPr>
          <a:xfrm>
            <a:off x="1668780" y="2075688"/>
            <a:ext cx="105156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&lt;1s</a:t>
            </a:r>
            <a:endParaRPr lang="en-US" sz="1000" dirty="0"/>
          </a:p>
        </p:txBody>
      </p:sp>
      <p:sp>
        <p:nvSpPr>
          <p:cNvPr id="15" name="Shape 12"/>
          <p:cNvSpPr/>
          <p:nvPr/>
        </p:nvSpPr>
        <p:spPr>
          <a:xfrm>
            <a:off x="2811780" y="1645920"/>
            <a:ext cx="1143000" cy="7315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16" name="Shape 13"/>
          <p:cNvSpPr/>
          <p:nvPr/>
        </p:nvSpPr>
        <p:spPr>
          <a:xfrm>
            <a:off x="2811780" y="1645920"/>
            <a:ext cx="1143000" cy="73152"/>
          </a:xfrm>
          <a:prstGeom prst="rect">
            <a:avLst/>
          </a:prstGeom>
          <a:solidFill>
            <a:srgbClr val="006B3F"/>
          </a:solidFill>
          <a:ln w="12700">
            <a:solidFill>
              <a:srgbClr val="006B3F"/>
            </a:solidFill>
            <a:prstDash val="solid"/>
          </a:ln>
        </p:spPr>
      </p:sp>
      <p:sp>
        <p:nvSpPr>
          <p:cNvPr id="17" name="Text 14"/>
          <p:cNvSpPr/>
          <p:nvPr/>
        </p:nvSpPr>
        <p:spPr>
          <a:xfrm>
            <a:off x="2857500" y="1783080"/>
            <a:ext cx="1051560" cy="292608"/>
          </a:xfrm>
          <a:prstGeom prst="rect">
            <a:avLst/>
          </a:prstGeom>
          <a:noFill/>
          <a:ln/>
        </p:spPr>
        <p:txBody>
          <a:bodyPr wrap="square" lIns="0" tIns="0" rIns="0" bIns="0" rtlCol="0" anchor="ctr"/>
          <a:lstStyle/>
          <a:p>
            <a:pPr algn="ctr" indent="0" marL="0">
              <a:buNone/>
            </a:pPr>
            <a:r>
              <a:rPr lang="en-US" sz="1000" b="1" dirty="0">
                <a:solidFill>
                  <a:srgbClr val="004D2C"/>
                </a:solidFill>
                <a:latin typeface="Consolas" pitchFamily="34" charset="0"/>
                <a:ea typeface="Consolas" pitchFamily="34" charset="-122"/>
                <a:cs typeface="Consolas" pitchFamily="34" charset="-120"/>
              </a:rPr>
              <a:t>mammoth</a:t>
            </a:r>
            <a:endParaRPr lang="en-US" sz="1000" dirty="0"/>
          </a:p>
        </p:txBody>
      </p:sp>
      <p:sp>
        <p:nvSpPr>
          <p:cNvPr id="18" name="Text 15"/>
          <p:cNvSpPr/>
          <p:nvPr/>
        </p:nvSpPr>
        <p:spPr>
          <a:xfrm>
            <a:off x="2857500" y="2075688"/>
            <a:ext cx="105156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~15s</a:t>
            </a:r>
            <a:endParaRPr lang="en-US" sz="1000" dirty="0"/>
          </a:p>
        </p:txBody>
      </p:sp>
      <p:sp>
        <p:nvSpPr>
          <p:cNvPr id="19" name="Shape 16"/>
          <p:cNvSpPr/>
          <p:nvPr/>
        </p:nvSpPr>
        <p:spPr>
          <a:xfrm>
            <a:off x="4000500" y="1645920"/>
            <a:ext cx="1143000" cy="7315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20" name="Shape 17"/>
          <p:cNvSpPr/>
          <p:nvPr/>
        </p:nvSpPr>
        <p:spPr>
          <a:xfrm>
            <a:off x="4000500" y="1645920"/>
            <a:ext cx="1143000" cy="73152"/>
          </a:xfrm>
          <a:prstGeom prst="rect">
            <a:avLst/>
          </a:prstGeom>
          <a:solidFill>
            <a:srgbClr val="006B3F"/>
          </a:solidFill>
          <a:ln w="12700">
            <a:solidFill>
              <a:srgbClr val="006B3F"/>
            </a:solidFill>
            <a:prstDash val="solid"/>
          </a:ln>
        </p:spPr>
      </p:sp>
      <p:sp>
        <p:nvSpPr>
          <p:cNvPr id="21" name="Text 18"/>
          <p:cNvSpPr/>
          <p:nvPr/>
        </p:nvSpPr>
        <p:spPr>
          <a:xfrm>
            <a:off x="4046220" y="1783080"/>
            <a:ext cx="1051560" cy="292608"/>
          </a:xfrm>
          <a:prstGeom prst="rect">
            <a:avLst/>
          </a:prstGeom>
          <a:noFill/>
          <a:ln/>
        </p:spPr>
        <p:txBody>
          <a:bodyPr wrap="square" lIns="0" tIns="0" rIns="0" bIns="0" rtlCol="0" anchor="ctr"/>
          <a:lstStyle/>
          <a:p>
            <a:pPr algn="ctr" indent="0" marL="0">
              <a:buNone/>
            </a:pPr>
            <a:r>
              <a:rPr lang="en-US" sz="1000" b="1" dirty="0">
                <a:solidFill>
                  <a:srgbClr val="004D2C"/>
                </a:solidFill>
                <a:latin typeface="Consolas" pitchFamily="34" charset="0"/>
                <a:ea typeface="Consolas" pitchFamily="34" charset="-122"/>
                <a:cs typeface="Consolas" pitchFamily="34" charset="-120"/>
              </a:rPr>
              <a:t>deep_walker</a:t>
            </a:r>
            <a:endParaRPr lang="en-US" sz="1000" dirty="0"/>
          </a:p>
        </p:txBody>
      </p:sp>
      <p:sp>
        <p:nvSpPr>
          <p:cNvPr id="22" name="Text 19"/>
          <p:cNvSpPr/>
          <p:nvPr/>
        </p:nvSpPr>
        <p:spPr>
          <a:xfrm>
            <a:off x="4046220" y="2075688"/>
            <a:ext cx="105156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~15s</a:t>
            </a:r>
            <a:endParaRPr lang="en-US" sz="1000" dirty="0"/>
          </a:p>
        </p:txBody>
      </p:sp>
      <p:sp>
        <p:nvSpPr>
          <p:cNvPr id="23" name="Shape 20"/>
          <p:cNvSpPr/>
          <p:nvPr/>
        </p:nvSpPr>
        <p:spPr>
          <a:xfrm>
            <a:off x="5189220" y="1645920"/>
            <a:ext cx="1143000" cy="7315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24" name="Shape 21"/>
          <p:cNvSpPr/>
          <p:nvPr/>
        </p:nvSpPr>
        <p:spPr>
          <a:xfrm>
            <a:off x="5189220" y="1645920"/>
            <a:ext cx="1143000" cy="73152"/>
          </a:xfrm>
          <a:prstGeom prst="rect">
            <a:avLst/>
          </a:prstGeom>
          <a:solidFill>
            <a:srgbClr val="006B3F"/>
          </a:solidFill>
          <a:ln w="12700">
            <a:solidFill>
              <a:srgbClr val="006B3F"/>
            </a:solidFill>
            <a:prstDash val="solid"/>
          </a:ln>
        </p:spPr>
      </p:sp>
      <p:sp>
        <p:nvSpPr>
          <p:cNvPr id="25" name="Text 22"/>
          <p:cNvSpPr/>
          <p:nvPr/>
        </p:nvSpPr>
        <p:spPr>
          <a:xfrm>
            <a:off x="5234940" y="1783080"/>
            <a:ext cx="1051560" cy="292608"/>
          </a:xfrm>
          <a:prstGeom prst="rect">
            <a:avLst/>
          </a:prstGeom>
          <a:noFill/>
          <a:ln/>
        </p:spPr>
        <p:txBody>
          <a:bodyPr wrap="square" lIns="0" tIns="0" rIns="0" bIns="0" rtlCol="0" anchor="ctr"/>
          <a:lstStyle/>
          <a:p>
            <a:pPr algn="ctr" indent="0" marL="0">
              <a:buNone/>
            </a:pPr>
            <a:r>
              <a:rPr lang="en-US" sz="1000" b="1" dirty="0">
                <a:solidFill>
                  <a:srgbClr val="004D2C"/>
                </a:solidFill>
                <a:latin typeface="Consolas" pitchFamily="34" charset="0"/>
                <a:ea typeface="Consolas" pitchFamily="34" charset="-122"/>
                <a:cs typeface="Consolas" pitchFamily="34" charset="-120"/>
              </a:rPr>
              <a:t>matcher</a:t>
            </a:r>
            <a:endParaRPr lang="en-US" sz="1000" dirty="0"/>
          </a:p>
        </p:txBody>
      </p:sp>
      <p:sp>
        <p:nvSpPr>
          <p:cNvPr id="26" name="Text 23"/>
          <p:cNvSpPr/>
          <p:nvPr/>
        </p:nvSpPr>
        <p:spPr>
          <a:xfrm>
            <a:off x="5234940" y="2075688"/>
            <a:ext cx="105156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2-3 min</a:t>
            </a:r>
            <a:endParaRPr lang="en-US" sz="1000" dirty="0"/>
          </a:p>
        </p:txBody>
      </p:sp>
      <p:sp>
        <p:nvSpPr>
          <p:cNvPr id="27" name="Shape 24"/>
          <p:cNvSpPr/>
          <p:nvPr/>
        </p:nvSpPr>
        <p:spPr>
          <a:xfrm>
            <a:off x="6377940" y="1645920"/>
            <a:ext cx="1143000" cy="7315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28" name="Shape 25"/>
          <p:cNvSpPr/>
          <p:nvPr/>
        </p:nvSpPr>
        <p:spPr>
          <a:xfrm>
            <a:off x="6377940" y="1645920"/>
            <a:ext cx="1143000" cy="73152"/>
          </a:xfrm>
          <a:prstGeom prst="rect">
            <a:avLst/>
          </a:prstGeom>
          <a:solidFill>
            <a:srgbClr val="006B3F"/>
          </a:solidFill>
          <a:ln w="12700">
            <a:solidFill>
              <a:srgbClr val="006B3F"/>
            </a:solidFill>
            <a:prstDash val="solid"/>
          </a:ln>
        </p:spPr>
      </p:sp>
      <p:sp>
        <p:nvSpPr>
          <p:cNvPr id="29" name="Text 26"/>
          <p:cNvSpPr/>
          <p:nvPr/>
        </p:nvSpPr>
        <p:spPr>
          <a:xfrm>
            <a:off x="6423660" y="1783080"/>
            <a:ext cx="1051560" cy="292608"/>
          </a:xfrm>
          <a:prstGeom prst="rect">
            <a:avLst/>
          </a:prstGeom>
          <a:noFill/>
          <a:ln/>
        </p:spPr>
        <p:txBody>
          <a:bodyPr wrap="square" lIns="0" tIns="0" rIns="0" bIns="0" rtlCol="0" anchor="ctr"/>
          <a:lstStyle/>
          <a:p>
            <a:pPr algn="ctr" indent="0" marL="0">
              <a:buNone/>
            </a:pPr>
            <a:r>
              <a:rPr lang="en-US" sz="1000" b="1" dirty="0">
                <a:solidFill>
                  <a:srgbClr val="004D2C"/>
                </a:solidFill>
                <a:latin typeface="Consolas" pitchFamily="34" charset="0"/>
                <a:ea typeface="Consolas" pitchFamily="34" charset="-122"/>
                <a:cs typeface="Consolas" pitchFamily="34" charset="-120"/>
              </a:rPr>
              <a:t>coverage_review</a:t>
            </a:r>
            <a:endParaRPr lang="en-US" sz="1000" dirty="0"/>
          </a:p>
        </p:txBody>
      </p:sp>
      <p:sp>
        <p:nvSpPr>
          <p:cNvPr id="30" name="Text 27"/>
          <p:cNvSpPr/>
          <p:nvPr/>
        </p:nvSpPr>
        <p:spPr>
          <a:xfrm>
            <a:off x="6423660" y="2075688"/>
            <a:ext cx="105156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~1 min</a:t>
            </a:r>
            <a:endParaRPr lang="en-US" sz="1000" dirty="0"/>
          </a:p>
        </p:txBody>
      </p:sp>
      <p:sp>
        <p:nvSpPr>
          <p:cNvPr id="31" name="Shape 28"/>
          <p:cNvSpPr/>
          <p:nvPr/>
        </p:nvSpPr>
        <p:spPr>
          <a:xfrm>
            <a:off x="7566660" y="1645920"/>
            <a:ext cx="1143000" cy="7315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32" name="Shape 29"/>
          <p:cNvSpPr/>
          <p:nvPr/>
        </p:nvSpPr>
        <p:spPr>
          <a:xfrm>
            <a:off x="7566660" y="1645920"/>
            <a:ext cx="1143000" cy="73152"/>
          </a:xfrm>
          <a:prstGeom prst="rect">
            <a:avLst/>
          </a:prstGeom>
          <a:solidFill>
            <a:srgbClr val="006B3F"/>
          </a:solidFill>
          <a:ln w="12700">
            <a:solidFill>
              <a:srgbClr val="006B3F"/>
            </a:solidFill>
            <a:prstDash val="solid"/>
          </a:ln>
        </p:spPr>
      </p:sp>
      <p:sp>
        <p:nvSpPr>
          <p:cNvPr id="33" name="Text 30"/>
          <p:cNvSpPr/>
          <p:nvPr/>
        </p:nvSpPr>
        <p:spPr>
          <a:xfrm>
            <a:off x="7612380" y="1783080"/>
            <a:ext cx="1051560" cy="292608"/>
          </a:xfrm>
          <a:prstGeom prst="rect">
            <a:avLst/>
          </a:prstGeom>
          <a:noFill/>
          <a:ln/>
        </p:spPr>
        <p:txBody>
          <a:bodyPr wrap="square" lIns="0" tIns="0" rIns="0" bIns="0" rtlCol="0" anchor="ctr"/>
          <a:lstStyle/>
          <a:p>
            <a:pPr algn="ctr" indent="0" marL="0">
              <a:buNone/>
            </a:pPr>
            <a:r>
              <a:rPr lang="en-US" sz="1000" b="1" dirty="0">
                <a:solidFill>
                  <a:srgbClr val="004D2C"/>
                </a:solidFill>
                <a:latin typeface="Consolas" pitchFamily="34" charset="0"/>
                <a:ea typeface="Consolas" pitchFamily="34" charset="-122"/>
                <a:cs typeface="Consolas" pitchFamily="34" charset="-120"/>
              </a:rPr>
              <a:t>matrix_extract</a:t>
            </a:r>
            <a:endParaRPr lang="en-US" sz="1000" dirty="0"/>
          </a:p>
        </p:txBody>
      </p:sp>
      <p:sp>
        <p:nvSpPr>
          <p:cNvPr id="34" name="Text 31"/>
          <p:cNvSpPr/>
          <p:nvPr/>
        </p:nvSpPr>
        <p:spPr>
          <a:xfrm>
            <a:off x="7612380" y="2075688"/>
            <a:ext cx="105156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~15s</a:t>
            </a:r>
            <a:endParaRPr lang="en-US" sz="1000" dirty="0"/>
          </a:p>
        </p:txBody>
      </p:sp>
      <p:sp>
        <p:nvSpPr>
          <p:cNvPr id="35" name="Shape 32"/>
          <p:cNvSpPr/>
          <p:nvPr/>
        </p:nvSpPr>
        <p:spPr>
          <a:xfrm>
            <a:off x="457200" y="2743200"/>
            <a:ext cx="3931920" cy="192024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36" name="Text 33"/>
          <p:cNvSpPr/>
          <p:nvPr/>
        </p:nvSpPr>
        <p:spPr>
          <a:xfrm>
            <a:off x="640080" y="2834640"/>
            <a:ext cx="3657600" cy="274320"/>
          </a:xfrm>
          <a:prstGeom prst="rect">
            <a:avLst/>
          </a:prstGeom>
          <a:noFill/>
          <a:ln/>
        </p:spPr>
        <p:txBody>
          <a:bodyPr wrap="square" lIns="0" tIns="0" rIns="0" bIns="0" rtlCol="0" anchor="ctr"/>
          <a:lstStyle/>
          <a:p>
            <a:pPr indent="0" marL="0">
              <a:buNone/>
            </a:pPr>
            <a:r>
              <a:rPr lang="en-US" sz="1300" b="1" dirty="0">
                <a:solidFill>
                  <a:srgbClr val="004D2C"/>
                </a:solidFill>
                <a:latin typeface="Calibri" pitchFamily="34" charset="0"/>
                <a:ea typeface="Calibri" pitchFamily="34" charset="-122"/>
                <a:cs typeface="Calibri" pitchFamily="34" charset="-120"/>
              </a:rPr>
              <a:t>What’s happening</a:t>
            </a:r>
            <a:endParaRPr lang="en-US" sz="1300" dirty="0"/>
          </a:p>
        </p:txBody>
      </p:sp>
      <p:sp>
        <p:nvSpPr>
          <p:cNvPr id="37" name="Text 34"/>
          <p:cNvSpPr/>
          <p:nvPr/>
        </p:nvSpPr>
        <p:spPr>
          <a:xfrm>
            <a:off x="777240" y="3108960"/>
            <a:ext cx="3566160" cy="1508760"/>
          </a:xfrm>
          <a:prstGeom prst="rect">
            <a:avLst/>
          </a:prstGeom>
          <a:noFill/>
          <a:ln/>
        </p:spPr>
        <p:txBody>
          <a:bodyPr wrap="square" rtlCol="0" anchor="ctr"/>
          <a:lstStyle/>
          <a:p>
            <a:pPr marL="342900" indent="-3429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Pulls the DOCX from Tigris S3</a:t>
            </a:r>
            <a:endParaRPr lang="en-US" sz="1100" dirty="0"/>
          </a:p>
          <a:p>
            <a:pPr marL="342900" indent="-3429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Converts to ~350 MB HTML</a:t>
            </a:r>
            <a:endParaRPr lang="en-US" sz="1100" dirty="0"/>
          </a:p>
          <a:p>
            <a:pPr marL="342900" indent="-3429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Walks every table + letter-tagged response</a:t>
            </a:r>
            <a:endParaRPr lang="en-US" sz="1100" dirty="0"/>
          </a:p>
          <a:p>
            <a:pPr marL="342900" indent="-3429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Claude Haiku routes each section to a (Standard, Spec)</a:t>
            </a:r>
            <a:endParaRPr lang="en-US" sz="1100" dirty="0"/>
          </a:p>
          <a:p>
            <a:pPr marL="342900" indent="-3429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Matrix anchors (HSR + Non-HS) extracted as first-class</a:t>
            </a:r>
            <a:endParaRPr lang="en-US" sz="1100" dirty="0"/>
          </a:p>
        </p:txBody>
      </p:sp>
      <p:sp>
        <p:nvSpPr>
          <p:cNvPr id="38" name="Shape 35"/>
          <p:cNvSpPr/>
          <p:nvPr/>
        </p:nvSpPr>
        <p:spPr>
          <a:xfrm>
            <a:off x="4572000" y="2743200"/>
            <a:ext cx="4114800" cy="192024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39" name="Shape 36"/>
          <p:cNvSpPr/>
          <p:nvPr/>
        </p:nvSpPr>
        <p:spPr>
          <a:xfrm>
            <a:off x="4572000" y="2743200"/>
            <a:ext cx="73152" cy="1920240"/>
          </a:xfrm>
          <a:prstGeom prst="rect">
            <a:avLst/>
          </a:prstGeom>
          <a:solidFill>
            <a:srgbClr val="D97706"/>
          </a:solidFill>
          <a:ln w="12700">
            <a:solidFill>
              <a:srgbClr val="D97706"/>
            </a:solidFill>
            <a:prstDash val="solid"/>
          </a:ln>
        </p:spPr>
      </p:sp>
      <p:sp>
        <p:nvSpPr>
          <p:cNvPr id="40" name="Text 37"/>
          <p:cNvSpPr/>
          <p:nvPr/>
        </p:nvSpPr>
        <p:spPr>
          <a:xfrm>
            <a:off x="4800600" y="2834640"/>
            <a:ext cx="3657600" cy="274320"/>
          </a:xfrm>
          <a:prstGeom prst="rect">
            <a:avLst/>
          </a:prstGeom>
          <a:noFill/>
          <a:ln/>
        </p:spPr>
        <p:txBody>
          <a:bodyPr wrap="square" lIns="0" tIns="0" rIns="0" bIns="0" rtlCol="0" anchor="ctr"/>
          <a:lstStyle/>
          <a:p>
            <a:pPr indent="0" marL="0">
              <a:buNone/>
            </a:pPr>
            <a:r>
              <a:rPr lang="en-US" sz="1300" b="1" spc="400" kern="0" dirty="0">
                <a:solidFill>
                  <a:srgbClr val="D97706"/>
                </a:solidFill>
                <a:latin typeface="Calibri" pitchFamily="34" charset="0"/>
                <a:ea typeface="Calibri" pitchFamily="34" charset="-122"/>
                <a:cs typeface="Calibri" pitchFamily="34" charset="-120"/>
              </a:rPr>
              <a:t>"LOOKS HUNG"?</a:t>
            </a:r>
            <a:endParaRPr lang="en-US" sz="1300" dirty="0"/>
          </a:p>
        </p:txBody>
      </p:sp>
      <p:sp>
        <p:nvSpPr>
          <p:cNvPr id="41" name="Text 38"/>
          <p:cNvSpPr/>
          <p:nvPr/>
        </p:nvSpPr>
        <p:spPr>
          <a:xfrm>
            <a:off x="4800600" y="3108960"/>
            <a:ext cx="3794760" cy="1508760"/>
          </a:xfrm>
          <a:prstGeom prst="rect">
            <a:avLst/>
          </a:prstGeom>
          <a:noFill/>
          <a:ln/>
        </p:spPr>
        <p:txBody>
          <a:bodyPr wrap="square" rtlCol="0" anchor="ctr"/>
          <a:lstStyle/>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matcher is the longest stage — ~2-3 min on a Stevenson-sized doc.</a:t>
            </a:r>
            <a:endParaRPr lang="en-US" sz="11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Watch the detail line: "200 / 557" → "557 / 557" ticks up every few seconds.</a:t>
            </a:r>
            <a:endParaRPr lang="en-US" sz="11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Elapsed timer + amber "stall" banner if no update for &gt;30s.</a:t>
            </a:r>
            <a:endParaRPr lang="en-US" sz="11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If failed: red banner + "Start over" returns to upload (clears errors).</a:t>
            </a:r>
            <a:endParaRPr lang="en-US" sz="1100" dirty="0"/>
          </a:p>
        </p:txBody>
      </p:sp>
      <p:sp>
        <p:nvSpPr>
          <p:cNvPr id="42" name="Shape 39"/>
          <p:cNvSpPr/>
          <p:nvPr/>
        </p:nvSpPr>
        <p:spPr>
          <a:xfrm>
            <a:off x="0" y="5029200"/>
            <a:ext cx="9144000" cy="114300"/>
          </a:xfrm>
          <a:prstGeom prst="rect">
            <a:avLst/>
          </a:prstGeom>
          <a:solidFill>
            <a:srgbClr val="81C784"/>
          </a:solidFill>
          <a:ln w="12700">
            <a:solidFill>
              <a:srgbClr val="81C784"/>
            </a:solidFill>
            <a:prstDash val="solid"/>
          </a:ln>
        </p:spPr>
      </p:sp>
      <p:sp>
        <p:nvSpPr>
          <p:cNvPr id="43" name="Text 40"/>
          <p:cNvSpPr/>
          <p:nvPr/>
        </p:nvSpPr>
        <p:spPr>
          <a:xfrm>
            <a:off x="8595360" y="4846320"/>
            <a:ext cx="457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04D2C"/>
          </a:solidFill>
          <a:ln w="12700">
            <a:solidFill>
              <a:srgbClr val="004D2C"/>
            </a:solidFill>
            <a:prstDash val="solid"/>
          </a:ln>
        </p:spPr>
      </p:sp>
      <p:pic>
        <p:nvPicPr>
          <p:cNvPr id="3" name="Image 0" descr="preencoded.png">    </p:cNvPr>
          <p:cNvPicPr>
            <a:picLocks noChangeAspect="1"/>
          </p:cNvPicPr>
          <p:nvPr/>
        </p:nvPicPr>
        <p:blipFill>
          <a:blip r:embed="rId1"/>
          <a:stretch>
            <a:fillRect/>
          </a:stretch>
        </p:blipFill>
        <p:spPr>
          <a:xfrm>
            <a:off x="91440" y="36576"/>
            <a:ext cx="292608" cy="292608"/>
          </a:xfrm>
          <a:prstGeom prst="rect">
            <a:avLst/>
          </a:prstGeom>
        </p:spPr>
      </p:pic>
      <p:sp>
        <p:nvSpPr>
          <p:cNvPr id="4" name="Text 1"/>
          <p:cNvSpPr/>
          <p:nvPr/>
        </p:nvSpPr>
        <p:spPr>
          <a:xfrm>
            <a:off x="457200" y="0"/>
            <a:ext cx="82296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 Import Wizard · User Guide</a:t>
            </a:r>
            <a:endParaRPr lang="en-US" sz="1000" dirty="0"/>
          </a:p>
        </p:txBody>
      </p:sp>
      <p:sp>
        <p:nvSpPr>
          <p:cNvPr id="5"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006B3F"/>
                </a:solidFill>
                <a:latin typeface="Calibri" pitchFamily="34" charset="0"/>
                <a:ea typeface="Calibri" pitchFamily="34" charset="-122"/>
                <a:cs typeface="Calibri" pitchFamily="34" charset="-120"/>
              </a:rPr>
              <a:t>STEP 3 OF 5</a:t>
            </a:r>
            <a:endParaRPr lang="en-US" sz="1100" dirty="0"/>
          </a:p>
        </p:txBody>
      </p:sp>
      <p:sp>
        <p:nvSpPr>
          <p:cNvPr id="6" name="Text 3"/>
          <p:cNvSpPr/>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004D2C"/>
                </a:solidFill>
                <a:latin typeface="Georgia" pitchFamily="34" charset="0"/>
                <a:ea typeface="Georgia" pitchFamily="34" charset="-122"/>
                <a:cs typeface="Georgia" pitchFamily="34" charset="-120"/>
              </a:rPr>
              <a:t>Step 3 — Review (3-pane workspace)</a:t>
            </a:r>
            <a:endParaRPr lang="en-US" sz="3200" dirty="0"/>
          </a:p>
        </p:txBody>
      </p:sp>
      <p:sp>
        <p:nvSpPr>
          <p:cNvPr id="7" name="Shape 4"/>
          <p:cNvSpPr/>
          <p:nvPr/>
        </p:nvSpPr>
        <p:spPr>
          <a:xfrm>
            <a:off x="457200" y="1554480"/>
            <a:ext cx="2560320" cy="31089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8" name="Shape 5"/>
          <p:cNvSpPr/>
          <p:nvPr/>
        </p:nvSpPr>
        <p:spPr>
          <a:xfrm>
            <a:off x="457200" y="1554480"/>
            <a:ext cx="2560320" cy="73152"/>
          </a:xfrm>
          <a:prstGeom prst="rect">
            <a:avLst/>
          </a:prstGeom>
          <a:solidFill>
            <a:srgbClr val="006B3F"/>
          </a:solidFill>
          <a:ln w="12700">
            <a:solidFill>
              <a:srgbClr val="006B3F"/>
            </a:solidFill>
            <a:prstDash val="solid"/>
          </a:ln>
        </p:spPr>
      </p:sp>
      <p:pic>
        <p:nvPicPr>
          <p:cNvPr id="9" name="Image 1" descr="preencoded.png">    </p:cNvPr>
          <p:cNvPicPr>
            <a:picLocks noChangeAspect="1"/>
          </p:cNvPicPr>
          <p:nvPr/>
        </p:nvPicPr>
        <p:blipFill>
          <a:blip r:embed="rId2"/>
          <a:stretch>
            <a:fillRect/>
          </a:stretch>
        </p:blipFill>
        <p:spPr>
          <a:xfrm>
            <a:off x="594360" y="1755648"/>
            <a:ext cx="320040" cy="320040"/>
          </a:xfrm>
          <a:prstGeom prst="rect">
            <a:avLst/>
          </a:prstGeom>
        </p:spPr>
      </p:pic>
      <p:sp>
        <p:nvSpPr>
          <p:cNvPr id="10" name="Text 6"/>
          <p:cNvSpPr/>
          <p:nvPr/>
        </p:nvSpPr>
        <p:spPr>
          <a:xfrm>
            <a:off x="960120" y="1737360"/>
            <a:ext cx="2011680" cy="365760"/>
          </a:xfrm>
          <a:prstGeom prst="rect">
            <a:avLst/>
          </a:prstGeom>
          <a:noFill/>
          <a:ln/>
        </p:spPr>
        <p:txBody>
          <a:bodyPr wrap="square" lIns="0" tIns="0" rIns="0" bIns="0" rtlCol="0" anchor="ctr"/>
          <a:lstStyle/>
          <a:p>
            <a:pPr indent="0" marL="0">
              <a:buNone/>
            </a:pPr>
            <a:r>
              <a:rPr lang="en-US" sz="1300" b="1" dirty="0">
                <a:solidFill>
                  <a:srgbClr val="004D2C"/>
                </a:solidFill>
                <a:latin typeface="Calibri" pitchFamily="34" charset="0"/>
                <a:ea typeface="Calibri" pitchFamily="34" charset="-122"/>
                <a:cs typeface="Calibri" pitchFamily="34" charset="-120"/>
              </a:rPr>
              <a:t>LEFT · Spec Rail</a:t>
            </a:r>
            <a:endParaRPr lang="en-US" sz="1300" dirty="0"/>
          </a:p>
        </p:txBody>
      </p:sp>
      <p:sp>
        <p:nvSpPr>
          <p:cNvPr id="11" name="Text 7"/>
          <p:cNvSpPr/>
          <p:nvPr/>
        </p:nvSpPr>
        <p:spPr>
          <a:xfrm>
            <a:off x="594360" y="2194560"/>
            <a:ext cx="2286000" cy="2377440"/>
          </a:xfrm>
          <a:prstGeom prst="rect">
            <a:avLst/>
          </a:prstGeom>
          <a:noFill/>
          <a:ln/>
        </p:spPr>
        <p:txBody>
          <a:bodyPr wrap="square" rtlCol="0" anchor="ctr"/>
          <a:lstStyle/>
          <a:p>
            <a:pPr marL="342900" indent="-3429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Matrices (N) — when detected</a:t>
            </a:r>
            <a:endParaRPr lang="en-US" sz="1050" dirty="0"/>
          </a:p>
          <a:p>
            <a:pPr marL="342900" indent="-3429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Standard 1 → 1.a, 1.b, …</a:t>
            </a:r>
            <a:endParaRPr lang="en-US" sz="1050" dirty="0"/>
          </a:p>
          <a:p>
            <a:pPr marL="342900" indent="-3429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Coverage dots: 🟢🟡🔴</a:t>
            </a:r>
            <a:endParaRPr lang="en-US" sz="1050" dirty="0"/>
          </a:p>
          <a:p>
            <a:pPr marL="342900" indent="-3429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Item count badge</a:t>
            </a:r>
            <a:endParaRPr lang="en-US" sz="1050" dirty="0"/>
          </a:p>
          <a:p>
            <a:pPr marL="342900" indent="-3429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Unplaced · Unwritten</a:t>
            </a:r>
            <a:endParaRPr lang="en-US" sz="1050" dirty="0"/>
          </a:p>
        </p:txBody>
      </p:sp>
      <p:sp>
        <p:nvSpPr>
          <p:cNvPr id="12" name="Shape 8"/>
          <p:cNvSpPr/>
          <p:nvPr/>
        </p:nvSpPr>
        <p:spPr>
          <a:xfrm>
            <a:off x="3200400" y="1554480"/>
            <a:ext cx="2926080" cy="31089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13" name="Shape 9"/>
          <p:cNvSpPr/>
          <p:nvPr/>
        </p:nvSpPr>
        <p:spPr>
          <a:xfrm>
            <a:off x="3200400" y="1554480"/>
            <a:ext cx="2926080" cy="73152"/>
          </a:xfrm>
          <a:prstGeom prst="rect">
            <a:avLst/>
          </a:prstGeom>
          <a:solidFill>
            <a:srgbClr val="006B3F"/>
          </a:solidFill>
          <a:ln w="12700">
            <a:solidFill>
              <a:srgbClr val="006B3F"/>
            </a:solidFill>
            <a:prstDash val="solid"/>
          </a:ln>
        </p:spPr>
      </p:sp>
      <p:pic>
        <p:nvPicPr>
          <p:cNvPr id="14" name="Image 2" descr="preencoded.png">    </p:cNvPr>
          <p:cNvPicPr>
            <a:picLocks noChangeAspect="1"/>
          </p:cNvPicPr>
          <p:nvPr/>
        </p:nvPicPr>
        <p:blipFill>
          <a:blip r:embed="rId3"/>
          <a:stretch>
            <a:fillRect/>
          </a:stretch>
        </p:blipFill>
        <p:spPr>
          <a:xfrm>
            <a:off x="3337560" y="1755648"/>
            <a:ext cx="320040" cy="320040"/>
          </a:xfrm>
          <a:prstGeom prst="rect">
            <a:avLst/>
          </a:prstGeom>
        </p:spPr>
      </p:pic>
      <p:sp>
        <p:nvSpPr>
          <p:cNvPr id="15" name="Text 10"/>
          <p:cNvSpPr/>
          <p:nvPr/>
        </p:nvSpPr>
        <p:spPr>
          <a:xfrm>
            <a:off x="3703320" y="1737360"/>
            <a:ext cx="2377440" cy="365760"/>
          </a:xfrm>
          <a:prstGeom prst="rect">
            <a:avLst/>
          </a:prstGeom>
          <a:noFill/>
          <a:ln/>
        </p:spPr>
        <p:txBody>
          <a:bodyPr wrap="square" lIns="0" tIns="0" rIns="0" bIns="0" rtlCol="0" anchor="ctr"/>
          <a:lstStyle/>
          <a:p>
            <a:pPr indent="0" marL="0">
              <a:buNone/>
            </a:pPr>
            <a:r>
              <a:rPr lang="en-US" sz="1300" b="1" dirty="0">
                <a:solidFill>
                  <a:srgbClr val="004D2C"/>
                </a:solidFill>
                <a:latin typeface="Calibri" pitchFamily="34" charset="0"/>
                <a:ea typeface="Calibri" pitchFamily="34" charset="-122"/>
                <a:cs typeface="Calibri" pitchFamily="34" charset="-120"/>
              </a:rPr>
              <a:t>MIDDLE · Item Cards</a:t>
            </a:r>
            <a:endParaRPr lang="en-US" sz="1300" dirty="0"/>
          </a:p>
        </p:txBody>
      </p:sp>
      <p:sp>
        <p:nvSpPr>
          <p:cNvPr id="16" name="Text 11"/>
          <p:cNvSpPr/>
          <p:nvPr/>
        </p:nvSpPr>
        <p:spPr>
          <a:xfrm>
            <a:off x="3337560" y="2194560"/>
            <a:ext cx="2651760" cy="2377440"/>
          </a:xfrm>
          <a:prstGeom prst="rect">
            <a:avLst/>
          </a:prstGeom>
          <a:noFill/>
          <a:ln/>
        </p:spPr>
        <p:txBody>
          <a:bodyPr wrap="square" rtlCol="0" anchor="ctr"/>
          <a:lstStyle/>
          <a:p>
            <a:pPr marL="342900" indent="-3429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Full body text per card</a:t>
            </a:r>
            <a:endParaRPr lang="en-US" sz="1050" dirty="0"/>
          </a:p>
          <a:p>
            <a:pPr marL="342900" indent="-3429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Inline kind chips: Narrative / Evidence / File</a:t>
            </a:r>
            <a:endParaRPr lang="en-US" sz="1050" dirty="0"/>
          </a:p>
          <a:p>
            <a:pPr marL="342900" indent="-3429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Per-card Approve button</a:t>
            </a:r>
            <a:endParaRPr lang="en-US" sz="1050" dirty="0"/>
          </a:p>
          <a:p>
            <a:pPr marL="342900" indent="-3429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 Add from source" on empties</a:t>
            </a:r>
            <a:endParaRPr lang="en-US" sz="1050" dirty="0"/>
          </a:p>
          <a:p>
            <a:pPr marL="342900" indent="-3429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"View in Matrix" link for matrix-covered specs</a:t>
            </a:r>
            <a:endParaRPr lang="en-US" sz="1050" dirty="0"/>
          </a:p>
        </p:txBody>
      </p:sp>
      <p:sp>
        <p:nvSpPr>
          <p:cNvPr id="17" name="Shape 12"/>
          <p:cNvSpPr/>
          <p:nvPr/>
        </p:nvSpPr>
        <p:spPr>
          <a:xfrm>
            <a:off x="6309360" y="1554480"/>
            <a:ext cx="2377440" cy="31089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18" name="Shape 13"/>
          <p:cNvSpPr/>
          <p:nvPr/>
        </p:nvSpPr>
        <p:spPr>
          <a:xfrm>
            <a:off x="6309360" y="1554480"/>
            <a:ext cx="2377440" cy="73152"/>
          </a:xfrm>
          <a:prstGeom prst="rect">
            <a:avLst/>
          </a:prstGeom>
          <a:solidFill>
            <a:srgbClr val="006B3F"/>
          </a:solidFill>
          <a:ln w="12700">
            <a:solidFill>
              <a:srgbClr val="006B3F"/>
            </a:solidFill>
            <a:prstDash val="solid"/>
          </a:ln>
        </p:spPr>
      </p:sp>
      <p:pic>
        <p:nvPicPr>
          <p:cNvPr id="19" name="Image 3" descr="preencoded.png">    </p:cNvPr>
          <p:cNvPicPr>
            <a:picLocks noChangeAspect="1"/>
          </p:cNvPicPr>
          <p:nvPr/>
        </p:nvPicPr>
        <p:blipFill>
          <a:blip r:embed="rId4"/>
          <a:stretch>
            <a:fillRect/>
          </a:stretch>
        </p:blipFill>
        <p:spPr>
          <a:xfrm>
            <a:off x="6446520" y="1755648"/>
            <a:ext cx="320040" cy="320040"/>
          </a:xfrm>
          <a:prstGeom prst="rect">
            <a:avLst/>
          </a:prstGeom>
        </p:spPr>
      </p:pic>
      <p:sp>
        <p:nvSpPr>
          <p:cNvPr id="20" name="Text 14"/>
          <p:cNvSpPr/>
          <p:nvPr/>
        </p:nvSpPr>
        <p:spPr>
          <a:xfrm>
            <a:off x="6812280" y="1737360"/>
            <a:ext cx="1828800" cy="365760"/>
          </a:xfrm>
          <a:prstGeom prst="rect">
            <a:avLst/>
          </a:prstGeom>
          <a:noFill/>
          <a:ln/>
        </p:spPr>
        <p:txBody>
          <a:bodyPr wrap="square" lIns="0" tIns="0" rIns="0" bIns="0" rtlCol="0" anchor="ctr"/>
          <a:lstStyle/>
          <a:p>
            <a:pPr indent="0" marL="0">
              <a:buNone/>
            </a:pPr>
            <a:r>
              <a:rPr lang="en-US" sz="1300" b="1" dirty="0">
                <a:solidFill>
                  <a:srgbClr val="004D2C"/>
                </a:solidFill>
                <a:latin typeface="Calibri" pitchFamily="34" charset="0"/>
                <a:ea typeface="Calibri" pitchFamily="34" charset="-122"/>
                <a:cs typeface="Calibri" pitchFamily="34" charset="-120"/>
              </a:rPr>
              <a:t>RIGHT · AI Preview</a:t>
            </a:r>
            <a:endParaRPr lang="en-US" sz="1300" dirty="0"/>
          </a:p>
        </p:txBody>
      </p:sp>
      <p:sp>
        <p:nvSpPr>
          <p:cNvPr id="21" name="Text 15"/>
          <p:cNvSpPr/>
          <p:nvPr/>
        </p:nvSpPr>
        <p:spPr>
          <a:xfrm>
            <a:off x="6446520" y="2194560"/>
            <a:ext cx="2103120" cy="2377440"/>
          </a:xfrm>
          <a:prstGeom prst="rect">
            <a:avLst/>
          </a:prstGeom>
          <a:noFill/>
          <a:ln/>
        </p:spPr>
        <p:txBody>
          <a:bodyPr wrap="square" rtlCol="0" anchor="ctr"/>
          <a:lstStyle/>
          <a:p>
            <a:pPr marL="342900" indent="-3429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AI confidence + rationale</a:t>
            </a:r>
            <a:endParaRPr lang="en-US" sz="1050" dirty="0"/>
          </a:p>
          <a:p>
            <a:pPr marL="342900" indent="-3429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Change kind dropdown</a:t>
            </a:r>
            <a:endParaRPr lang="en-US" sz="1050" dirty="0"/>
          </a:p>
          <a:p>
            <a:pPr marL="342900" indent="-3429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Reassign to a different (Std, Spec)</a:t>
            </a:r>
            <a:endParaRPr lang="en-US" sz="1050" dirty="0"/>
          </a:p>
          <a:p>
            <a:pPr marL="342900" indent="-3429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Show in source document</a:t>
            </a:r>
            <a:endParaRPr lang="en-US" sz="1050" dirty="0"/>
          </a:p>
        </p:txBody>
      </p:sp>
      <p:sp>
        <p:nvSpPr>
          <p:cNvPr id="22" name="Shape 16"/>
          <p:cNvSpPr/>
          <p:nvPr/>
        </p:nvSpPr>
        <p:spPr>
          <a:xfrm>
            <a:off x="0" y="5029200"/>
            <a:ext cx="9144000" cy="114300"/>
          </a:xfrm>
          <a:prstGeom prst="rect">
            <a:avLst/>
          </a:prstGeom>
          <a:solidFill>
            <a:srgbClr val="81C784"/>
          </a:solidFill>
          <a:ln w="12700">
            <a:solidFill>
              <a:srgbClr val="81C784"/>
            </a:solidFill>
            <a:prstDash val="solid"/>
          </a:ln>
        </p:spPr>
      </p:sp>
      <p:sp>
        <p:nvSpPr>
          <p:cNvPr id="23" name="Text 17"/>
          <p:cNvSpPr/>
          <p:nvPr/>
        </p:nvSpPr>
        <p:spPr>
          <a:xfrm>
            <a:off x="8595360" y="4846320"/>
            <a:ext cx="457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04D2C"/>
          </a:solidFill>
          <a:ln w="12700">
            <a:solidFill>
              <a:srgbClr val="004D2C"/>
            </a:solidFill>
            <a:prstDash val="solid"/>
          </a:ln>
        </p:spPr>
      </p:sp>
      <p:pic>
        <p:nvPicPr>
          <p:cNvPr id="3" name="Image 0" descr="preencoded.png">    </p:cNvPr>
          <p:cNvPicPr>
            <a:picLocks noChangeAspect="1"/>
          </p:cNvPicPr>
          <p:nvPr/>
        </p:nvPicPr>
        <p:blipFill>
          <a:blip r:embed="rId1"/>
          <a:stretch>
            <a:fillRect/>
          </a:stretch>
        </p:blipFill>
        <p:spPr>
          <a:xfrm>
            <a:off x="91440" y="36576"/>
            <a:ext cx="292608" cy="292608"/>
          </a:xfrm>
          <a:prstGeom prst="rect">
            <a:avLst/>
          </a:prstGeom>
        </p:spPr>
      </p:pic>
      <p:sp>
        <p:nvSpPr>
          <p:cNvPr id="4" name="Text 1"/>
          <p:cNvSpPr/>
          <p:nvPr/>
        </p:nvSpPr>
        <p:spPr>
          <a:xfrm>
            <a:off x="457200" y="0"/>
            <a:ext cx="82296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 Import Wizard · User Guide</a:t>
            </a:r>
            <a:endParaRPr lang="en-US" sz="1000" dirty="0"/>
          </a:p>
        </p:txBody>
      </p:sp>
      <p:sp>
        <p:nvSpPr>
          <p:cNvPr id="5"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006B3F"/>
                </a:solidFill>
                <a:latin typeface="Calibri" pitchFamily="34" charset="0"/>
                <a:ea typeface="Calibri" pitchFamily="34" charset="-122"/>
                <a:cs typeface="Calibri" pitchFamily="34" charset="-120"/>
              </a:rPr>
              <a:t>STEP 3a</a:t>
            </a:r>
            <a:endParaRPr lang="en-US" sz="1100" dirty="0"/>
          </a:p>
        </p:txBody>
      </p:sp>
      <p:sp>
        <p:nvSpPr>
          <p:cNvPr id="6" name="Text 3"/>
          <p:cNvSpPr/>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004D2C"/>
                </a:solidFill>
                <a:latin typeface="Georgia" pitchFamily="34" charset="0"/>
                <a:ea typeface="Georgia" pitchFamily="34" charset="-122"/>
                <a:cs typeface="Georgia" pitchFamily="34" charset="-120"/>
              </a:rPr>
              <a:t>The Spec Rail — your map of the document</a:t>
            </a:r>
            <a:endParaRPr lang="en-US" sz="3200" dirty="0"/>
          </a:p>
        </p:txBody>
      </p:sp>
      <p:sp>
        <p:nvSpPr>
          <p:cNvPr id="7" name="Shape 4"/>
          <p:cNvSpPr/>
          <p:nvPr/>
        </p:nvSpPr>
        <p:spPr>
          <a:xfrm>
            <a:off x="457200" y="1554480"/>
            <a:ext cx="3017520" cy="31089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8" name="Shape 5"/>
          <p:cNvSpPr/>
          <p:nvPr/>
        </p:nvSpPr>
        <p:spPr>
          <a:xfrm>
            <a:off x="594360" y="1691640"/>
            <a:ext cx="2743200" cy="274320"/>
          </a:xfrm>
          <a:prstGeom prst="rect">
            <a:avLst/>
          </a:prstGeom>
          <a:solidFill>
            <a:srgbClr val="E8F5E9"/>
          </a:solidFill>
          <a:ln w="12700">
            <a:solidFill>
              <a:srgbClr val="81C784"/>
            </a:solidFill>
            <a:prstDash val="solid"/>
          </a:ln>
        </p:spPr>
      </p:sp>
      <p:sp>
        <p:nvSpPr>
          <p:cNvPr id="9" name="Text 6"/>
          <p:cNvSpPr/>
          <p:nvPr/>
        </p:nvSpPr>
        <p:spPr>
          <a:xfrm>
            <a:off x="685800" y="1691640"/>
            <a:ext cx="1371600" cy="274320"/>
          </a:xfrm>
          <a:prstGeom prst="rect">
            <a:avLst/>
          </a:prstGeom>
          <a:noFill/>
          <a:ln/>
        </p:spPr>
        <p:txBody>
          <a:bodyPr wrap="square" lIns="0" tIns="0" rIns="0" bIns="0" rtlCol="0" anchor="ctr"/>
          <a:lstStyle/>
          <a:p>
            <a:pPr indent="0" marL="0">
              <a:buNone/>
            </a:pPr>
            <a:r>
              <a:rPr lang="en-US" sz="1100" b="1" dirty="0">
                <a:solidFill>
                  <a:srgbClr val="004D2C"/>
                </a:solidFill>
                <a:latin typeface="Calibri" pitchFamily="34" charset="0"/>
                <a:ea typeface="Calibri" pitchFamily="34" charset="-122"/>
                <a:cs typeface="Calibri" pitchFamily="34" charset="-120"/>
              </a:rPr>
              <a:t>📊 Matrices</a:t>
            </a:r>
            <a:endParaRPr lang="en-US" sz="1100" dirty="0"/>
          </a:p>
        </p:txBody>
      </p:sp>
      <p:sp>
        <p:nvSpPr>
          <p:cNvPr id="10" name="Text 7"/>
          <p:cNvSpPr/>
          <p:nvPr/>
        </p:nvSpPr>
        <p:spPr>
          <a:xfrm>
            <a:off x="2743200" y="1691640"/>
            <a:ext cx="365760" cy="274320"/>
          </a:xfrm>
          <a:prstGeom prst="rect">
            <a:avLst/>
          </a:prstGeom>
          <a:noFill/>
          <a:ln/>
        </p:spPr>
        <p:txBody>
          <a:bodyPr wrap="square" lIns="0" tIns="0" rIns="0" bIns="0" rtlCol="0" anchor="ctr"/>
          <a:lstStyle/>
          <a:p>
            <a:pPr algn="r" indent="0" marL="0">
              <a:buNone/>
            </a:pPr>
            <a:r>
              <a:rPr lang="en-US" sz="1000" b="1" dirty="0">
                <a:solidFill>
                  <a:srgbClr val="006B3F"/>
                </a:solidFill>
                <a:latin typeface="Calibri" pitchFamily="34" charset="0"/>
                <a:ea typeface="Calibri" pitchFamily="34" charset="-122"/>
                <a:cs typeface="Calibri" pitchFamily="34" charset="-120"/>
              </a:rPr>
              <a:t>2</a:t>
            </a:r>
            <a:endParaRPr lang="en-US" sz="1000" dirty="0"/>
          </a:p>
        </p:txBody>
      </p:sp>
      <p:sp>
        <p:nvSpPr>
          <p:cNvPr id="11" name="Text 8"/>
          <p:cNvSpPr/>
          <p:nvPr/>
        </p:nvSpPr>
        <p:spPr>
          <a:xfrm>
            <a:off x="594360" y="2057400"/>
            <a:ext cx="2743200" cy="228600"/>
          </a:xfrm>
          <a:prstGeom prst="rect">
            <a:avLst/>
          </a:prstGeom>
          <a:noFill/>
          <a:ln/>
        </p:spPr>
        <p:txBody>
          <a:bodyPr wrap="square" lIns="0" tIns="0" rIns="0" bIns="0" rtlCol="0" anchor="ctr"/>
          <a:lstStyle/>
          <a:p>
            <a:pPr indent="0" marL="0">
              <a:buNone/>
            </a:pPr>
            <a:r>
              <a:rPr lang="en-US" sz="900" b="1" spc="300" kern="0" dirty="0">
                <a:solidFill>
                  <a:srgbClr val="64748B"/>
                </a:solidFill>
                <a:latin typeface="Calibri" pitchFamily="34" charset="0"/>
                <a:ea typeface="Calibri" pitchFamily="34" charset="-122"/>
                <a:cs typeface="Calibri" pitchFamily="34" charset="-120"/>
              </a:rPr>
              <a:t>STANDARD 1</a:t>
            </a:r>
            <a:endParaRPr lang="en-US" sz="900" dirty="0"/>
          </a:p>
        </p:txBody>
      </p:sp>
      <p:sp>
        <p:nvSpPr>
          <p:cNvPr id="12" name="Text 9"/>
          <p:cNvSpPr/>
          <p:nvPr/>
        </p:nvSpPr>
        <p:spPr>
          <a:xfrm>
            <a:off x="685800" y="2331720"/>
            <a:ext cx="2194560" cy="2286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1.a Institutional Requirements</a:t>
            </a:r>
            <a:endParaRPr lang="en-US" sz="950" dirty="0"/>
          </a:p>
        </p:txBody>
      </p:sp>
      <p:sp>
        <p:nvSpPr>
          <p:cNvPr id="13" name="Text 10"/>
          <p:cNvSpPr/>
          <p:nvPr/>
        </p:nvSpPr>
        <p:spPr>
          <a:xfrm>
            <a:off x="2743200" y="2331720"/>
            <a:ext cx="228600" cy="228600"/>
          </a:xfrm>
          <a:prstGeom prst="rect">
            <a:avLst/>
          </a:prstGeom>
          <a:noFill/>
          <a:ln/>
        </p:spPr>
        <p:txBody>
          <a:bodyPr wrap="square" lIns="0" tIns="0" rIns="0" bIns="0" rtlCol="0" anchor="ctr"/>
          <a:lstStyle/>
          <a:p>
            <a:pPr indent="0" marL="0">
              <a:buNone/>
            </a:pPr>
            <a:r>
              <a:rPr lang="en-US" sz="900" b="1" dirty="0">
                <a:solidFill>
                  <a:srgbClr val="004D2C"/>
                </a:solidFill>
                <a:latin typeface="Calibri" pitchFamily="34" charset="0"/>
                <a:ea typeface="Calibri" pitchFamily="34" charset="-122"/>
                <a:cs typeface="Calibri" pitchFamily="34" charset="-120"/>
              </a:rPr>
              <a:t>1</a:t>
            </a:r>
            <a:endParaRPr lang="en-US" sz="900" dirty="0"/>
          </a:p>
        </p:txBody>
      </p:sp>
      <p:sp>
        <p:nvSpPr>
          <p:cNvPr id="14" name="Text 11"/>
          <p:cNvSpPr/>
          <p:nvPr/>
        </p:nvSpPr>
        <p:spPr>
          <a:xfrm>
            <a:off x="3017520" y="2331720"/>
            <a:ext cx="228600" cy="228600"/>
          </a:xfrm>
          <a:prstGeom prst="rect">
            <a:avLst/>
          </a:prstGeom>
          <a:noFill/>
          <a:ln/>
        </p:spPr>
        <p:txBody>
          <a:bodyPr wrap="square" lIns="0" tIns="0" rIns="0" bIns="0" rtlCol="0" anchor="ctr"/>
          <a:lstStyle/>
          <a:p>
            <a:pPr indent="0" marL="0">
              <a:buNone/>
            </a:pPr>
            <a:r>
              <a:rPr lang="en-US" sz="900" dirty="0">
                <a:solidFill>
                  <a:srgbClr val="000000"/>
                </a:solidFill>
              </a:rPr>
              <a:t>🟢</a:t>
            </a:r>
            <a:endParaRPr lang="en-US" sz="900" dirty="0"/>
          </a:p>
        </p:txBody>
      </p:sp>
      <p:sp>
        <p:nvSpPr>
          <p:cNvPr id="15" name="Text 12"/>
          <p:cNvSpPr/>
          <p:nvPr/>
        </p:nvSpPr>
        <p:spPr>
          <a:xfrm>
            <a:off x="685800" y="2578608"/>
            <a:ext cx="2194560" cy="2286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1.b Institutional Requirements</a:t>
            </a:r>
            <a:endParaRPr lang="en-US" sz="950" dirty="0"/>
          </a:p>
        </p:txBody>
      </p:sp>
      <p:sp>
        <p:nvSpPr>
          <p:cNvPr id="16" name="Text 13"/>
          <p:cNvSpPr/>
          <p:nvPr/>
        </p:nvSpPr>
        <p:spPr>
          <a:xfrm>
            <a:off x="2743200" y="2578608"/>
            <a:ext cx="228600" cy="228600"/>
          </a:xfrm>
          <a:prstGeom prst="rect">
            <a:avLst/>
          </a:prstGeom>
          <a:noFill/>
          <a:ln/>
        </p:spPr>
        <p:txBody>
          <a:bodyPr wrap="square" lIns="0" tIns="0" rIns="0" bIns="0" rtlCol="0" anchor="ctr"/>
          <a:lstStyle/>
          <a:p>
            <a:pPr indent="0" marL="0">
              <a:buNone/>
            </a:pPr>
            <a:r>
              <a:rPr lang="en-US" sz="900" b="1" dirty="0">
                <a:solidFill>
                  <a:srgbClr val="004D2C"/>
                </a:solidFill>
                <a:latin typeface="Calibri" pitchFamily="34" charset="0"/>
                <a:ea typeface="Calibri" pitchFamily="34" charset="-122"/>
                <a:cs typeface="Calibri" pitchFamily="34" charset="-120"/>
              </a:rPr>
              <a:t>7</a:t>
            </a:r>
            <a:endParaRPr lang="en-US" sz="900" dirty="0"/>
          </a:p>
        </p:txBody>
      </p:sp>
      <p:sp>
        <p:nvSpPr>
          <p:cNvPr id="17" name="Text 14"/>
          <p:cNvSpPr/>
          <p:nvPr/>
        </p:nvSpPr>
        <p:spPr>
          <a:xfrm>
            <a:off x="3017520" y="2578608"/>
            <a:ext cx="228600" cy="228600"/>
          </a:xfrm>
          <a:prstGeom prst="rect">
            <a:avLst/>
          </a:prstGeom>
          <a:noFill/>
          <a:ln/>
        </p:spPr>
        <p:txBody>
          <a:bodyPr wrap="square" lIns="0" tIns="0" rIns="0" bIns="0" rtlCol="0" anchor="ctr"/>
          <a:lstStyle/>
          <a:p>
            <a:pPr indent="0" marL="0">
              <a:buNone/>
            </a:pPr>
            <a:r>
              <a:rPr lang="en-US" sz="900" dirty="0">
                <a:solidFill>
                  <a:srgbClr val="000000"/>
                </a:solidFill>
              </a:rPr>
              <a:t>🟢</a:t>
            </a:r>
            <a:endParaRPr lang="en-US" sz="900" dirty="0"/>
          </a:p>
        </p:txBody>
      </p:sp>
      <p:sp>
        <p:nvSpPr>
          <p:cNvPr id="18" name="Text 15"/>
          <p:cNvSpPr/>
          <p:nvPr/>
        </p:nvSpPr>
        <p:spPr>
          <a:xfrm>
            <a:off x="685800" y="2825496"/>
            <a:ext cx="2194560" cy="2286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1.c Institutional Requirements</a:t>
            </a:r>
            <a:endParaRPr lang="en-US" sz="950" dirty="0"/>
          </a:p>
        </p:txBody>
      </p:sp>
      <p:sp>
        <p:nvSpPr>
          <p:cNvPr id="19" name="Text 16"/>
          <p:cNvSpPr/>
          <p:nvPr/>
        </p:nvSpPr>
        <p:spPr>
          <a:xfrm>
            <a:off x="2743200" y="2825496"/>
            <a:ext cx="228600" cy="228600"/>
          </a:xfrm>
          <a:prstGeom prst="rect">
            <a:avLst/>
          </a:prstGeom>
          <a:noFill/>
          <a:ln/>
        </p:spPr>
        <p:txBody>
          <a:bodyPr wrap="square" lIns="0" tIns="0" rIns="0" bIns="0" rtlCol="0" anchor="ctr"/>
          <a:lstStyle/>
          <a:p>
            <a:pPr indent="0" marL="0">
              <a:buNone/>
            </a:pPr>
            <a:r>
              <a:rPr lang="en-US" sz="900" b="1" dirty="0">
                <a:solidFill>
                  <a:srgbClr val="004D2C"/>
                </a:solidFill>
                <a:latin typeface="Calibri" pitchFamily="34" charset="0"/>
                <a:ea typeface="Calibri" pitchFamily="34" charset="-122"/>
                <a:cs typeface="Calibri" pitchFamily="34" charset="-120"/>
              </a:rPr>
              <a:t>2</a:t>
            </a:r>
            <a:endParaRPr lang="en-US" sz="900" dirty="0"/>
          </a:p>
        </p:txBody>
      </p:sp>
      <p:sp>
        <p:nvSpPr>
          <p:cNvPr id="20" name="Text 17"/>
          <p:cNvSpPr/>
          <p:nvPr/>
        </p:nvSpPr>
        <p:spPr>
          <a:xfrm>
            <a:off x="3017520" y="2825496"/>
            <a:ext cx="228600" cy="228600"/>
          </a:xfrm>
          <a:prstGeom prst="rect">
            <a:avLst/>
          </a:prstGeom>
          <a:noFill/>
          <a:ln/>
        </p:spPr>
        <p:txBody>
          <a:bodyPr wrap="square" lIns="0" tIns="0" rIns="0" bIns="0" rtlCol="0" anchor="ctr"/>
          <a:lstStyle/>
          <a:p>
            <a:pPr indent="0" marL="0">
              <a:buNone/>
            </a:pPr>
            <a:r>
              <a:rPr lang="en-US" sz="900" dirty="0">
                <a:solidFill>
                  <a:srgbClr val="000000"/>
                </a:solidFill>
              </a:rPr>
              <a:t>🟡</a:t>
            </a:r>
            <a:endParaRPr lang="en-US" sz="900" dirty="0"/>
          </a:p>
        </p:txBody>
      </p:sp>
      <p:sp>
        <p:nvSpPr>
          <p:cNvPr id="21" name="Text 18"/>
          <p:cNvSpPr/>
          <p:nvPr/>
        </p:nvSpPr>
        <p:spPr>
          <a:xfrm>
            <a:off x="685800" y="3072384"/>
            <a:ext cx="2194560" cy="2286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1.d Institutional Requirements</a:t>
            </a:r>
            <a:endParaRPr lang="en-US" sz="950" dirty="0"/>
          </a:p>
        </p:txBody>
      </p:sp>
      <p:sp>
        <p:nvSpPr>
          <p:cNvPr id="22" name="Text 19"/>
          <p:cNvSpPr/>
          <p:nvPr/>
        </p:nvSpPr>
        <p:spPr>
          <a:xfrm>
            <a:off x="2743200" y="3072384"/>
            <a:ext cx="228600" cy="228600"/>
          </a:xfrm>
          <a:prstGeom prst="rect">
            <a:avLst/>
          </a:prstGeom>
          <a:noFill/>
          <a:ln/>
        </p:spPr>
        <p:txBody>
          <a:bodyPr wrap="square" lIns="0" tIns="0" rIns="0" bIns="0" rtlCol="0" anchor="ctr"/>
          <a:lstStyle/>
          <a:p>
            <a:pPr indent="0" marL="0">
              <a:buNone/>
            </a:pPr>
            <a:r>
              <a:rPr lang="en-US" sz="900" b="1" dirty="0">
                <a:solidFill>
                  <a:srgbClr val="004D2C"/>
                </a:solidFill>
                <a:latin typeface="Calibri" pitchFamily="34" charset="0"/>
                <a:ea typeface="Calibri" pitchFamily="34" charset="-122"/>
                <a:cs typeface="Calibri" pitchFamily="34" charset="-120"/>
              </a:rPr>
              <a:t>1</a:t>
            </a:r>
            <a:endParaRPr lang="en-US" sz="900" dirty="0"/>
          </a:p>
        </p:txBody>
      </p:sp>
      <p:sp>
        <p:nvSpPr>
          <p:cNvPr id="23" name="Text 20"/>
          <p:cNvSpPr/>
          <p:nvPr/>
        </p:nvSpPr>
        <p:spPr>
          <a:xfrm>
            <a:off x="3017520" y="3072384"/>
            <a:ext cx="228600" cy="228600"/>
          </a:xfrm>
          <a:prstGeom prst="rect">
            <a:avLst/>
          </a:prstGeom>
          <a:noFill/>
          <a:ln/>
        </p:spPr>
        <p:txBody>
          <a:bodyPr wrap="square" lIns="0" tIns="0" rIns="0" bIns="0" rtlCol="0" anchor="ctr"/>
          <a:lstStyle/>
          <a:p>
            <a:pPr indent="0" marL="0">
              <a:buNone/>
            </a:pPr>
            <a:r>
              <a:rPr lang="en-US" sz="900" dirty="0">
                <a:solidFill>
                  <a:srgbClr val="000000"/>
                </a:solidFill>
              </a:rPr>
              <a:t>🔴</a:t>
            </a:r>
            <a:endParaRPr lang="en-US" sz="900" dirty="0"/>
          </a:p>
        </p:txBody>
      </p:sp>
      <p:sp>
        <p:nvSpPr>
          <p:cNvPr id="24" name="Text 21"/>
          <p:cNvSpPr/>
          <p:nvPr/>
        </p:nvSpPr>
        <p:spPr>
          <a:xfrm>
            <a:off x="685800" y="3319272"/>
            <a:ext cx="2194560" cy="2286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1.e Institutional Requirements</a:t>
            </a:r>
            <a:endParaRPr lang="en-US" sz="950" dirty="0"/>
          </a:p>
        </p:txBody>
      </p:sp>
      <p:sp>
        <p:nvSpPr>
          <p:cNvPr id="25" name="Text 22"/>
          <p:cNvSpPr/>
          <p:nvPr/>
        </p:nvSpPr>
        <p:spPr>
          <a:xfrm>
            <a:off x="2743200" y="3319272"/>
            <a:ext cx="228600" cy="228600"/>
          </a:xfrm>
          <a:prstGeom prst="rect">
            <a:avLst/>
          </a:prstGeom>
          <a:noFill/>
          <a:ln/>
        </p:spPr>
        <p:txBody>
          <a:bodyPr wrap="square" lIns="0" tIns="0" rIns="0" bIns="0" rtlCol="0" anchor="ctr"/>
          <a:lstStyle/>
          <a:p>
            <a:pPr indent="0" marL="0">
              <a:buNone/>
            </a:pPr>
            <a:r>
              <a:rPr lang="en-US" sz="900" b="1" dirty="0">
                <a:solidFill>
                  <a:srgbClr val="004D2C"/>
                </a:solidFill>
                <a:latin typeface="Calibri" pitchFamily="34" charset="0"/>
                <a:ea typeface="Calibri" pitchFamily="34" charset="-122"/>
                <a:cs typeface="Calibri" pitchFamily="34" charset="-120"/>
              </a:rPr>
              <a:t>4</a:t>
            </a:r>
            <a:endParaRPr lang="en-US" sz="900" dirty="0"/>
          </a:p>
        </p:txBody>
      </p:sp>
      <p:sp>
        <p:nvSpPr>
          <p:cNvPr id="26" name="Text 23"/>
          <p:cNvSpPr/>
          <p:nvPr/>
        </p:nvSpPr>
        <p:spPr>
          <a:xfrm>
            <a:off x="3017520" y="3319272"/>
            <a:ext cx="228600" cy="228600"/>
          </a:xfrm>
          <a:prstGeom prst="rect">
            <a:avLst/>
          </a:prstGeom>
          <a:noFill/>
          <a:ln/>
        </p:spPr>
        <p:txBody>
          <a:bodyPr wrap="square" lIns="0" tIns="0" rIns="0" bIns="0" rtlCol="0" anchor="ctr"/>
          <a:lstStyle/>
          <a:p>
            <a:pPr indent="0" marL="0">
              <a:buNone/>
            </a:pPr>
            <a:r>
              <a:rPr lang="en-US" sz="900" dirty="0">
                <a:solidFill>
                  <a:srgbClr val="000000"/>
                </a:solidFill>
              </a:rPr>
              <a:t>🟡</a:t>
            </a:r>
            <a:endParaRPr lang="en-US" sz="900" dirty="0"/>
          </a:p>
        </p:txBody>
      </p:sp>
      <p:sp>
        <p:nvSpPr>
          <p:cNvPr id="27" name="Text 24"/>
          <p:cNvSpPr/>
          <p:nvPr/>
        </p:nvSpPr>
        <p:spPr>
          <a:xfrm>
            <a:off x="685800" y="3566160"/>
            <a:ext cx="2194560" cy="2286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1.f Institutional Requirements</a:t>
            </a:r>
            <a:endParaRPr lang="en-US" sz="950" dirty="0"/>
          </a:p>
        </p:txBody>
      </p:sp>
      <p:sp>
        <p:nvSpPr>
          <p:cNvPr id="28" name="Text 25"/>
          <p:cNvSpPr/>
          <p:nvPr/>
        </p:nvSpPr>
        <p:spPr>
          <a:xfrm>
            <a:off x="2743200" y="3566160"/>
            <a:ext cx="228600" cy="228600"/>
          </a:xfrm>
          <a:prstGeom prst="rect">
            <a:avLst/>
          </a:prstGeom>
          <a:noFill/>
          <a:ln/>
        </p:spPr>
        <p:txBody>
          <a:bodyPr wrap="square" lIns="0" tIns="0" rIns="0" bIns="0" rtlCol="0" anchor="ctr"/>
          <a:lstStyle/>
          <a:p>
            <a:pPr indent="0" marL="0">
              <a:buNone/>
            </a:pPr>
            <a:r>
              <a:rPr lang="en-US" sz="900" b="1" dirty="0">
                <a:solidFill>
                  <a:srgbClr val="004D2C"/>
                </a:solidFill>
                <a:latin typeface="Calibri" pitchFamily="34" charset="0"/>
                <a:ea typeface="Calibri" pitchFamily="34" charset="-122"/>
                <a:cs typeface="Calibri" pitchFamily="34" charset="-120"/>
              </a:rPr>
              <a:t>3</a:t>
            </a:r>
            <a:endParaRPr lang="en-US" sz="900" dirty="0"/>
          </a:p>
        </p:txBody>
      </p:sp>
      <p:sp>
        <p:nvSpPr>
          <p:cNvPr id="29" name="Text 26"/>
          <p:cNvSpPr/>
          <p:nvPr/>
        </p:nvSpPr>
        <p:spPr>
          <a:xfrm>
            <a:off x="3017520" y="3566160"/>
            <a:ext cx="228600" cy="228600"/>
          </a:xfrm>
          <a:prstGeom prst="rect">
            <a:avLst/>
          </a:prstGeom>
          <a:noFill/>
          <a:ln/>
        </p:spPr>
        <p:txBody>
          <a:bodyPr wrap="square" lIns="0" tIns="0" rIns="0" bIns="0" rtlCol="0" anchor="ctr"/>
          <a:lstStyle/>
          <a:p>
            <a:pPr indent="0" marL="0">
              <a:buNone/>
            </a:pPr>
            <a:r>
              <a:rPr lang="en-US" sz="900" dirty="0">
                <a:solidFill>
                  <a:srgbClr val="000000"/>
                </a:solidFill>
              </a:rPr>
              <a:t>🔴</a:t>
            </a:r>
            <a:endParaRPr lang="en-US" sz="900" dirty="0"/>
          </a:p>
        </p:txBody>
      </p:sp>
      <p:sp>
        <p:nvSpPr>
          <p:cNvPr id="30" name="Shape 27"/>
          <p:cNvSpPr/>
          <p:nvPr/>
        </p:nvSpPr>
        <p:spPr>
          <a:xfrm>
            <a:off x="3749040" y="1554480"/>
            <a:ext cx="4937760" cy="31089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31" name="Text 28"/>
          <p:cNvSpPr/>
          <p:nvPr/>
        </p:nvSpPr>
        <p:spPr>
          <a:xfrm>
            <a:off x="3931920" y="1691640"/>
            <a:ext cx="4572000" cy="274320"/>
          </a:xfrm>
          <a:prstGeom prst="rect">
            <a:avLst/>
          </a:prstGeom>
          <a:noFill/>
          <a:ln/>
        </p:spPr>
        <p:txBody>
          <a:bodyPr wrap="square" lIns="0" tIns="0" rIns="0" bIns="0" rtlCol="0" anchor="ctr"/>
          <a:lstStyle/>
          <a:p>
            <a:pPr indent="0" marL="0">
              <a:buNone/>
            </a:pPr>
            <a:r>
              <a:rPr lang="en-US" sz="1400" b="1" dirty="0">
                <a:solidFill>
                  <a:srgbClr val="004D2C"/>
                </a:solidFill>
                <a:latin typeface="Calibri" pitchFamily="34" charset="0"/>
                <a:ea typeface="Calibri" pitchFamily="34" charset="-122"/>
                <a:cs typeface="Calibri" pitchFamily="34" charset="-120"/>
              </a:rPr>
              <a:t>How to read the rail</a:t>
            </a:r>
            <a:endParaRPr lang="en-US" sz="1400" dirty="0"/>
          </a:p>
        </p:txBody>
      </p:sp>
      <p:sp>
        <p:nvSpPr>
          <p:cNvPr id="32" name="Text 29"/>
          <p:cNvSpPr/>
          <p:nvPr/>
        </p:nvSpPr>
        <p:spPr>
          <a:xfrm>
            <a:off x="3931920" y="2011680"/>
            <a:ext cx="4572000" cy="2606040"/>
          </a:xfrm>
          <a:prstGeom prst="rect">
            <a:avLst/>
          </a:prstGeom>
          <a:noFill/>
          <a:ln/>
        </p:spPr>
        <p:txBody>
          <a:bodyPr wrap="square" rtlCol="0" anchor="ctr"/>
          <a:lstStyle/>
          <a:p>
            <a:pPr indent="0" marL="0">
              <a:buNone/>
            </a:pPr>
            <a:r>
              <a:rPr lang="en-US" sz="1100" b="1" dirty="0">
                <a:solidFill>
                  <a:srgbClr val="004D2C"/>
                </a:solidFill>
                <a:latin typeface="Calibri" pitchFamily="34" charset="0"/>
                <a:ea typeface="Calibri" pitchFamily="34" charset="-122"/>
                <a:cs typeface="Calibri" pitchFamily="34" charset="-120"/>
              </a:rPr>
              <a:t>📊 Matrices (N) </a:t>
            </a:r>
            <a:pPr indent="0" marL="0">
              <a:buNone/>
            </a:pPr>
            <a:r>
              <a:rPr lang="en-US" sz="1100" dirty="0">
                <a:solidFill>
                  <a:srgbClr val="1F2937"/>
                </a:solidFill>
                <a:latin typeface="Calibri" pitchFamily="34" charset="0"/>
                <a:ea typeface="Calibri" pitchFamily="34" charset="-122"/>
                <a:cs typeface="Calibri" pitchFamily="34" charset="-120"/>
              </a:rPr>
              <a:t>jumps to a dedicated matrices view — full source &lt;table&gt; + per-row deep-links.</a:t>
            </a:r>
            <a:endParaRPr lang="en-US" sz="1100" dirty="0"/>
          </a:p>
          <a:p>
            <a:pPr indent="0" marL="0">
              <a:buNone/>
            </a:pPr>
            <a:endParaRPr lang="en-US" sz="1100" dirty="0"/>
          </a:p>
          <a:p>
            <a:pPr indent="0" marL="0">
              <a:buNone/>
            </a:pPr>
            <a:r>
              <a:rPr lang="en-US" sz="1100" b="1" dirty="0">
                <a:solidFill>
                  <a:srgbClr val="004D2C"/>
                </a:solidFill>
                <a:latin typeface="Calibri" pitchFamily="34" charset="0"/>
                <a:ea typeface="Calibri" pitchFamily="34" charset="-122"/>
                <a:cs typeface="Calibri" pitchFamily="34" charset="-120"/>
              </a:rPr>
              <a:t>N badge </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on each spec = item count auto-routed there.</a:t>
            </a:r>
            <a:endParaRPr lang="en-US" sz="1100" dirty="0"/>
          </a:p>
          <a:p>
            <a:pPr indent="0" marL="0">
              <a:buNone/>
            </a:pPr>
            <a:endParaRPr lang="en-US" sz="1100" dirty="0"/>
          </a:p>
          <a:p>
            <a:pPr indent="0" marL="0">
              <a:buNone/>
            </a:pPr>
            <a:r>
              <a:rPr lang="en-US" sz="1100" b="1" dirty="0">
                <a:solidFill>
                  <a:srgbClr val="1F2937"/>
                </a:solidFill>
                <a:latin typeface="Calibri" pitchFamily="34" charset="0"/>
                <a:ea typeface="Calibri" pitchFamily="34" charset="-122"/>
                <a:cs typeface="Calibri" pitchFamily="34" charset="-120"/>
              </a:rPr>
              <a:t>🟢 green </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 spec fully covered. </a:t>
            </a:r>
            <a:pPr indent="0" marL="0">
              <a:buNone/>
            </a:pPr>
            <a:r>
              <a:rPr lang="en-US" sz="1100" b="1" dirty="0">
                <a:solidFill>
                  <a:srgbClr val="1F2937"/>
                </a:solidFill>
                <a:latin typeface="Calibri" pitchFamily="34" charset="0"/>
                <a:ea typeface="Calibri" pitchFamily="34" charset="-122"/>
                <a:cs typeface="Calibri" pitchFamily="34" charset="-120"/>
              </a:rPr>
              <a:t>🟡 amber </a:t>
            </a:r>
            <a:pPr indent="0" marL="0">
              <a:buNone/>
            </a:pPr>
            <a:r>
              <a:rPr lang="en-US" sz="1100" dirty="0">
                <a:solidFill>
                  <a:srgbClr val="1F2937"/>
                </a:solidFill>
                <a:latin typeface="Calibri" pitchFamily="34" charset="0"/>
                <a:ea typeface="Calibri" pitchFamily="34" charset="-122"/>
                <a:cs typeface="Calibri" pitchFamily="34" charset="-120"/>
              </a:rPr>
              <a:t>= partial coverage. </a:t>
            </a:r>
            <a:pPr indent="0" marL="0">
              <a:buNone/>
            </a:pPr>
            <a:r>
              <a:rPr lang="en-US" sz="1100" b="1" dirty="0">
                <a:solidFill>
                  <a:srgbClr val="1F2937"/>
                </a:solidFill>
                <a:latin typeface="Calibri" pitchFamily="34" charset="0"/>
                <a:ea typeface="Calibri" pitchFamily="34" charset="-122"/>
                <a:cs typeface="Calibri" pitchFamily="34" charset="-120"/>
              </a:rPr>
              <a:t>🔴 red </a:t>
            </a:r>
            <a:pPr indent="0" marL="0">
              <a:buNone/>
            </a:pPr>
            <a:r>
              <a:rPr lang="en-US" sz="1100" dirty="0">
                <a:solidFill>
                  <a:srgbClr val="1F2937"/>
                </a:solidFill>
                <a:latin typeface="Calibri" pitchFamily="34" charset="0"/>
                <a:ea typeface="Calibri" pitchFamily="34" charset="-122"/>
                <a:cs typeface="Calibri" pitchFamily="34" charset="-120"/>
              </a:rPr>
              <a:t>= the spec has items but the coverage reviewer found gaps.</a:t>
            </a:r>
            <a:endParaRPr lang="en-US" sz="1100" dirty="0"/>
          </a:p>
          <a:p>
            <a:pPr indent="0" marL="0">
              <a:buNone/>
            </a:pPr>
            <a:endParaRPr lang="en-US" sz="1100" dirty="0"/>
          </a:p>
          <a:p>
            <a:pPr indent="0" marL="0">
              <a:buNone/>
            </a:pPr>
            <a:r>
              <a:rPr lang="en-US" sz="1100" b="1" dirty="0">
                <a:solidFill>
                  <a:srgbClr val="004D2C"/>
                </a:solidFill>
                <a:latin typeface="Calibri" pitchFamily="34" charset="0"/>
                <a:ea typeface="Calibri" pitchFamily="34" charset="-122"/>
                <a:cs typeface="Calibri" pitchFamily="34" charset="-120"/>
              </a:rPr>
              <a:t>No dot, no badge </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 nothing routed here. </a:t>
            </a:r>
            <a:pPr indent="0" marL="0">
              <a:buNone/>
            </a:pPr>
            <a:r>
              <a:rPr lang="en-US" sz="1100" i="1" dirty="0">
                <a:solidFill>
                  <a:srgbClr val="64748B"/>
                </a:solidFill>
                <a:latin typeface="Calibri" pitchFamily="34" charset="0"/>
                <a:ea typeface="Calibri" pitchFamily="34" charset="-122"/>
                <a:cs typeface="Calibri" pitchFamily="34" charset="-120"/>
              </a:rPr>
              <a:t>Click the spec to see the "+ Add from source" CTA — that’s your correction path.</a:t>
            </a:r>
            <a:endParaRPr lang="en-US" sz="1100" dirty="0"/>
          </a:p>
        </p:txBody>
      </p:sp>
      <p:sp>
        <p:nvSpPr>
          <p:cNvPr id="33" name="Shape 30"/>
          <p:cNvSpPr/>
          <p:nvPr/>
        </p:nvSpPr>
        <p:spPr>
          <a:xfrm>
            <a:off x="0" y="5029200"/>
            <a:ext cx="9144000" cy="114300"/>
          </a:xfrm>
          <a:prstGeom prst="rect">
            <a:avLst/>
          </a:prstGeom>
          <a:solidFill>
            <a:srgbClr val="81C784"/>
          </a:solidFill>
          <a:ln w="12700">
            <a:solidFill>
              <a:srgbClr val="81C784"/>
            </a:solidFill>
            <a:prstDash val="solid"/>
          </a:ln>
        </p:spPr>
      </p:sp>
      <p:sp>
        <p:nvSpPr>
          <p:cNvPr id="34" name="Text 31"/>
          <p:cNvSpPr/>
          <p:nvPr/>
        </p:nvSpPr>
        <p:spPr>
          <a:xfrm>
            <a:off x="8595360" y="4846320"/>
            <a:ext cx="457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04D2C"/>
          </a:solidFill>
          <a:ln w="12700">
            <a:solidFill>
              <a:srgbClr val="004D2C"/>
            </a:solidFill>
            <a:prstDash val="solid"/>
          </a:ln>
        </p:spPr>
      </p:sp>
      <p:pic>
        <p:nvPicPr>
          <p:cNvPr id="3" name="Image 0" descr="preencoded.png">    </p:cNvPr>
          <p:cNvPicPr>
            <a:picLocks noChangeAspect="1"/>
          </p:cNvPicPr>
          <p:nvPr/>
        </p:nvPicPr>
        <p:blipFill>
          <a:blip r:embed="rId1"/>
          <a:stretch>
            <a:fillRect/>
          </a:stretch>
        </p:blipFill>
        <p:spPr>
          <a:xfrm>
            <a:off x="91440" y="36576"/>
            <a:ext cx="292608" cy="292608"/>
          </a:xfrm>
          <a:prstGeom prst="rect">
            <a:avLst/>
          </a:prstGeom>
        </p:spPr>
      </p:pic>
      <p:sp>
        <p:nvSpPr>
          <p:cNvPr id="4" name="Text 1"/>
          <p:cNvSpPr/>
          <p:nvPr/>
        </p:nvSpPr>
        <p:spPr>
          <a:xfrm>
            <a:off x="457200" y="0"/>
            <a:ext cx="82296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 Import Wizard · User Guide</a:t>
            </a:r>
            <a:endParaRPr lang="en-US" sz="1000" dirty="0"/>
          </a:p>
        </p:txBody>
      </p:sp>
      <p:sp>
        <p:nvSpPr>
          <p:cNvPr id="5"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006B3F"/>
                </a:solidFill>
                <a:latin typeface="Calibri" pitchFamily="34" charset="0"/>
                <a:ea typeface="Calibri" pitchFamily="34" charset="-122"/>
                <a:cs typeface="Calibri" pitchFamily="34" charset="-120"/>
              </a:rPr>
              <a:t>STEP 3b</a:t>
            </a:r>
            <a:endParaRPr lang="en-US" sz="1100" dirty="0"/>
          </a:p>
        </p:txBody>
      </p:sp>
      <p:sp>
        <p:nvSpPr>
          <p:cNvPr id="6" name="Text 3"/>
          <p:cNvSpPr/>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004D2C"/>
                </a:solidFill>
                <a:latin typeface="Georgia" pitchFamily="34" charset="0"/>
                <a:ea typeface="Georgia" pitchFamily="34" charset="-122"/>
                <a:cs typeface="Georgia" pitchFamily="34" charset="-120"/>
              </a:rPr>
              <a:t>Item cards &amp; the kind chips</a:t>
            </a:r>
            <a:endParaRPr lang="en-US" sz="3200" dirty="0"/>
          </a:p>
        </p:txBody>
      </p:sp>
      <p:sp>
        <p:nvSpPr>
          <p:cNvPr id="7" name="Shape 4"/>
          <p:cNvSpPr/>
          <p:nvPr/>
        </p:nvSpPr>
        <p:spPr>
          <a:xfrm>
            <a:off x="457200" y="1554480"/>
            <a:ext cx="4572000" cy="31089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8" name="Text 5"/>
          <p:cNvSpPr/>
          <p:nvPr/>
        </p:nvSpPr>
        <p:spPr>
          <a:xfrm>
            <a:off x="640080" y="1691640"/>
            <a:ext cx="274320" cy="274320"/>
          </a:xfrm>
          <a:prstGeom prst="rect">
            <a:avLst/>
          </a:prstGeom>
          <a:noFill/>
          <a:ln/>
        </p:spPr>
        <p:txBody>
          <a:bodyPr wrap="square" lIns="0" tIns="0" rIns="0" bIns="0"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#3</a:t>
            </a:r>
            <a:endParaRPr lang="en-US" sz="1000" dirty="0"/>
          </a:p>
        </p:txBody>
      </p:sp>
      <p:sp>
        <p:nvSpPr>
          <p:cNvPr id="9" name="Shape 6"/>
          <p:cNvSpPr/>
          <p:nvPr/>
        </p:nvSpPr>
        <p:spPr>
          <a:xfrm>
            <a:off x="914400" y="1691640"/>
            <a:ext cx="502920" cy="274320"/>
          </a:xfrm>
          <a:prstGeom prst="rect">
            <a:avLst/>
          </a:prstGeom>
          <a:solidFill>
            <a:srgbClr val="DCFCE7"/>
          </a:solidFill>
          <a:ln w="12700">
            <a:solidFill>
              <a:srgbClr val="DCFCE7"/>
            </a:solidFill>
            <a:prstDash val="solid"/>
          </a:ln>
        </p:spPr>
      </p:sp>
      <p:sp>
        <p:nvSpPr>
          <p:cNvPr id="10" name="Text 7"/>
          <p:cNvSpPr/>
          <p:nvPr/>
        </p:nvSpPr>
        <p:spPr>
          <a:xfrm>
            <a:off x="914400" y="1691640"/>
            <a:ext cx="502920" cy="274320"/>
          </a:xfrm>
          <a:prstGeom prst="rect">
            <a:avLst/>
          </a:prstGeom>
          <a:noFill/>
          <a:ln/>
        </p:spPr>
        <p:txBody>
          <a:bodyPr wrap="square" lIns="0" tIns="0" rIns="0" bIns="0" rtlCol="0" anchor="ctr"/>
          <a:lstStyle/>
          <a:p>
            <a:pPr algn="ctr" indent="0" marL="0">
              <a:buNone/>
            </a:pPr>
            <a:r>
              <a:rPr lang="en-US" sz="1000" b="1" dirty="0">
                <a:solidFill>
                  <a:srgbClr val="15803D"/>
                </a:solidFill>
                <a:latin typeface="Calibri" pitchFamily="34" charset="0"/>
                <a:ea typeface="Calibri" pitchFamily="34" charset="-122"/>
                <a:cs typeface="Calibri" pitchFamily="34" charset="-120"/>
              </a:rPr>
              <a:t>0.94</a:t>
            </a:r>
            <a:endParaRPr lang="en-US" sz="1000" dirty="0"/>
          </a:p>
        </p:txBody>
      </p:sp>
      <p:sp>
        <p:nvSpPr>
          <p:cNvPr id="11" name="Shape 8"/>
          <p:cNvSpPr/>
          <p:nvPr/>
        </p:nvSpPr>
        <p:spPr>
          <a:xfrm>
            <a:off x="1508760" y="1691640"/>
            <a:ext cx="777240" cy="274320"/>
          </a:xfrm>
          <a:prstGeom prst="rect">
            <a:avLst/>
          </a:prstGeom>
          <a:solidFill>
            <a:srgbClr val="004D2C"/>
          </a:solidFill>
          <a:ln w="12700">
            <a:solidFill>
              <a:srgbClr val="D1D5DB"/>
            </a:solidFill>
            <a:prstDash val="solid"/>
          </a:ln>
        </p:spPr>
      </p:sp>
      <p:sp>
        <p:nvSpPr>
          <p:cNvPr id="12" name="Text 9"/>
          <p:cNvSpPr/>
          <p:nvPr/>
        </p:nvSpPr>
        <p:spPr>
          <a:xfrm>
            <a:off x="1508760" y="1691640"/>
            <a:ext cx="77724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Narrative</a:t>
            </a:r>
            <a:endParaRPr lang="en-US" sz="1000" dirty="0"/>
          </a:p>
        </p:txBody>
      </p:sp>
      <p:sp>
        <p:nvSpPr>
          <p:cNvPr id="13" name="Shape 10"/>
          <p:cNvSpPr/>
          <p:nvPr/>
        </p:nvSpPr>
        <p:spPr>
          <a:xfrm>
            <a:off x="2286000" y="1691640"/>
            <a:ext cx="777240" cy="274320"/>
          </a:xfrm>
          <a:prstGeom prst="rect">
            <a:avLst/>
          </a:prstGeom>
          <a:solidFill>
            <a:srgbClr val="FFFFFF"/>
          </a:solidFill>
          <a:ln w="12700">
            <a:solidFill>
              <a:srgbClr val="D1D5DB"/>
            </a:solidFill>
            <a:prstDash val="solid"/>
          </a:ln>
        </p:spPr>
      </p:sp>
      <p:sp>
        <p:nvSpPr>
          <p:cNvPr id="14" name="Text 11"/>
          <p:cNvSpPr/>
          <p:nvPr/>
        </p:nvSpPr>
        <p:spPr>
          <a:xfrm>
            <a:off x="2286000" y="1691640"/>
            <a:ext cx="777240" cy="27432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Evidence</a:t>
            </a:r>
            <a:endParaRPr lang="en-US" sz="1000" dirty="0"/>
          </a:p>
        </p:txBody>
      </p:sp>
      <p:sp>
        <p:nvSpPr>
          <p:cNvPr id="15" name="Shape 12"/>
          <p:cNvSpPr/>
          <p:nvPr/>
        </p:nvSpPr>
        <p:spPr>
          <a:xfrm>
            <a:off x="3063240" y="1691640"/>
            <a:ext cx="777240" cy="274320"/>
          </a:xfrm>
          <a:prstGeom prst="rect">
            <a:avLst/>
          </a:prstGeom>
          <a:solidFill>
            <a:srgbClr val="FFFFFF"/>
          </a:solidFill>
          <a:ln w="12700">
            <a:solidFill>
              <a:srgbClr val="D1D5DB"/>
            </a:solidFill>
            <a:prstDash val="solid"/>
          </a:ln>
        </p:spPr>
      </p:sp>
      <p:sp>
        <p:nvSpPr>
          <p:cNvPr id="16" name="Text 13"/>
          <p:cNvSpPr/>
          <p:nvPr/>
        </p:nvSpPr>
        <p:spPr>
          <a:xfrm>
            <a:off x="3063240" y="1691640"/>
            <a:ext cx="777240" cy="27432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File</a:t>
            </a:r>
            <a:endParaRPr lang="en-US" sz="1000" dirty="0"/>
          </a:p>
        </p:txBody>
      </p:sp>
      <p:sp>
        <p:nvSpPr>
          <p:cNvPr id="17" name="Shape 14"/>
          <p:cNvSpPr/>
          <p:nvPr/>
        </p:nvSpPr>
        <p:spPr>
          <a:xfrm>
            <a:off x="4297680" y="1691640"/>
            <a:ext cx="685800" cy="274320"/>
          </a:xfrm>
          <a:prstGeom prst="rect">
            <a:avLst/>
          </a:prstGeom>
          <a:solidFill>
            <a:srgbClr val="FFFFFF"/>
          </a:solidFill>
          <a:ln w="12700">
            <a:solidFill>
              <a:srgbClr val="D1D5DB"/>
            </a:solidFill>
            <a:prstDash val="solid"/>
          </a:ln>
        </p:spPr>
      </p:sp>
      <p:sp>
        <p:nvSpPr>
          <p:cNvPr id="18" name="Text 15"/>
          <p:cNvSpPr/>
          <p:nvPr/>
        </p:nvSpPr>
        <p:spPr>
          <a:xfrm>
            <a:off x="4297680" y="1691640"/>
            <a:ext cx="685800" cy="274320"/>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 Approve</a:t>
            </a:r>
            <a:endParaRPr lang="en-US" sz="900" dirty="0"/>
          </a:p>
        </p:txBody>
      </p:sp>
      <p:sp>
        <p:nvSpPr>
          <p:cNvPr id="19" name="Text 16"/>
          <p:cNvSpPr/>
          <p:nvPr/>
        </p:nvSpPr>
        <p:spPr>
          <a:xfrm>
            <a:off x="640080" y="2103120"/>
            <a:ext cx="4297680" cy="365760"/>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Provide evidence that the development of competent human services…</a:t>
            </a:r>
            <a:endParaRPr lang="en-US" sz="1150" dirty="0"/>
          </a:p>
        </p:txBody>
      </p:sp>
      <p:sp>
        <p:nvSpPr>
          <p:cNvPr id="20" name="Text 17"/>
          <p:cNvSpPr/>
          <p:nvPr/>
        </p:nvSpPr>
        <p:spPr>
          <a:xfrm>
            <a:off x="640080" y="2468880"/>
            <a:ext cx="429768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Source heading: b.</a:t>
            </a:r>
            <a:endParaRPr lang="en-US" sz="900" dirty="0"/>
          </a:p>
        </p:txBody>
      </p:sp>
      <p:sp>
        <p:nvSpPr>
          <p:cNvPr id="21" name="Shape 18"/>
          <p:cNvSpPr/>
          <p:nvPr/>
        </p:nvSpPr>
        <p:spPr>
          <a:xfrm>
            <a:off x="640080" y="2743200"/>
            <a:ext cx="4297680" cy="1828800"/>
          </a:xfrm>
          <a:prstGeom prst="rect">
            <a:avLst/>
          </a:prstGeom>
          <a:solidFill>
            <a:srgbClr val="F8FAFC"/>
          </a:solidFill>
          <a:ln w="12700">
            <a:solidFill>
              <a:srgbClr val="E2E8F0"/>
            </a:solidFill>
            <a:prstDash val="solid"/>
          </a:ln>
        </p:spPr>
      </p:sp>
      <p:sp>
        <p:nvSpPr>
          <p:cNvPr id="22" name="Text 19"/>
          <p:cNvSpPr/>
          <p:nvPr/>
        </p:nvSpPr>
        <p:spPr>
          <a:xfrm>
            <a:off x="777240" y="2834640"/>
            <a:ext cx="4023360" cy="164592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Response: The Counseling &amp; Human Services Program is designed for students who want to provide human services for people in need. The major prepares students for careers in human services and also for graduate school. The courses provide students with a comprehensive understanding of how individuals and families develop…</a:t>
            </a:r>
            <a:endParaRPr lang="en-US" sz="1000" dirty="0"/>
          </a:p>
        </p:txBody>
      </p:sp>
      <p:sp>
        <p:nvSpPr>
          <p:cNvPr id="23" name="Shape 20"/>
          <p:cNvSpPr/>
          <p:nvPr/>
        </p:nvSpPr>
        <p:spPr>
          <a:xfrm>
            <a:off x="5303520" y="1554480"/>
            <a:ext cx="3383280" cy="31089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24" name="Shape 21"/>
          <p:cNvSpPr/>
          <p:nvPr/>
        </p:nvSpPr>
        <p:spPr>
          <a:xfrm>
            <a:off x="5303520" y="1554480"/>
            <a:ext cx="73152" cy="3108960"/>
          </a:xfrm>
          <a:prstGeom prst="rect">
            <a:avLst/>
          </a:prstGeom>
          <a:solidFill>
            <a:srgbClr val="006B3F"/>
          </a:solidFill>
          <a:ln w="12700">
            <a:solidFill>
              <a:srgbClr val="006B3F"/>
            </a:solidFill>
            <a:prstDash val="solid"/>
          </a:ln>
        </p:spPr>
      </p:sp>
      <p:sp>
        <p:nvSpPr>
          <p:cNvPr id="25" name="Text 22"/>
          <p:cNvSpPr/>
          <p:nvPr/>
        </p:nvSpPr>
        <p:spPr>
          <a:xfrm>
            <a:off x="5486400" y="1691640"/>
            <a:ext cx="3200400" cy="274320"/>
          </a:xfrm>
          <a:prstGeom prst="rect">
            <a:avLst/>
          </a:prstGeom>
          <a:noFill/>
          <a:ln/>
        </p:spPr>
        <p:txBody>
          <a:bodyPr wrap="square" lIns="0" tIns="0" rIns="0" bIns="0" rtlCol="0" anchor="ctr"/>
          <a:lstStyle/>
          <a:p>
            <a:pPr indent="0" marL="0">
              <a:buNone/>
            </a:pPr>
            <a:r>
              <a:rPr lang="en-US" sz="1400" b="1" dirty="0">
                <a:solidFill>
                  <a:srgbClr val="004D2C"/>
                </a:solidFill>
                <a:latin typeface="Calibri" pitchFamily="34" charset="0"/>
                <a:ea typeface="Calibri" pitchFamily="34" charset="-122"/>
                <a:cs typeface="Calibri" pitchFamily="34" charset="-120"/>
              </a:rPr>
              <a:t>Click anything</a:t>
            </a:r>
            <a:endParaRPr lang="en-US" sz="1400" dirty="0"/>
          </a:p>
        </p:txBody>
      </p:sp>
      <p:sp>
        <p:nvSpPr>
          <p:cNvPr id="26" name="Text 23"/>
          <p:cNvSpPr/>
          <p:nvPr/>
        </p:nvSpPr>
        <p:spPr>
          <a:xfrm>
            <a:off x="5486400" y="2011680"/>
            <a:ext cx="3108960" cy="2606040"/>
          </a:xfrm>
          <a:prstGeom prst="rect">
            <a:avLst/>
          </a:prstGeom>
          <a:noFill/>
          <a:ln/>
        </p:spPr>
        <p:txBody>
          <a:bodyPr wrap="square" rtlCol="0" anchor="ctr"/>
          <a:lstStyle/>
          <a:p>
            <a:pPr indent="0" marL="0">
              <a:spcAft>
                <a:spcPts val="300"/>
              </a:spcAft>
              <a:buNone/>
            </a:pPr>
            <a:r>
              <a:rPr lang="en-US" sz="1050" b="1" dirty="0">
                <a:solidFill>
                  <a:srgbClr val="1F2937"/>
                </a:solidFill>
                <a:latin typeface="Calibri" pitchFamily="34" charset="0"/>
                <a:ea typeface="Calibri" pitchFamily="34" charset="-122"/>
                <a:cs typeface="Calibri" pitchFamily="34" charset="-120"/>
              </a:rPr>
              <a:t>Kind chips </a:t>
            </a:r>
            <a:pPr indent="0" marL="0">
              <a:spcAft>
                <a:spcPts val="300"/>
              </a:spcAft>
              <a:buNone/>
            </a:pPr>
            <a:r>
              <a:rPr lang="en-US" sz="1050" dirty="0">
                <a:solidFill>
                  <a:srgbClr val="1F2937"/>
                </a:solidFill>
                <a:latin typeface="Calibri" pitchFamily="34" charset="0"/>
                <a:ea typeface="Calibri" pitchFamily="34" charset="-122"/>
                <a:cs typeface="Calibri" pitchFamily="34" charset="-120"/>
              </a:rPr>
              <a:t>(Narrative · Evidence · File) — click to re-bucket. One click flips a narrative to supporting evidence.</a:t>
            </a:r>
            <a:endParaRPr lang="en-US" sz="1050" dirty="0"/>
          </a:p>
          <a:p>
            <a:pPr indent="0" marL="0">
              <a:spcAft>
                <a:spcPts val="300"/>
              </a:spcAft>
              <a:buNone/>
            </a:pPr>
            <a:endParaRPr lang="en-US" sz="1050" dirty="0"/>
          </a:p>
          <a:p>
            <a:pPr indent="0" marL="0">
              <a:spcAft>
                <a:spcPts val="300"/>
              </a:spcAft>
              <a:buNone/>
            </a:pPr>
            <a:r>
              <a:rPr lang="en-US" sz="1050" b="1" dirty="0">
                <a:solidFill>
                  <a:srgbClr val="1F2937"/>
                </a:solidFill>
                <a:latin typeface="Calibri" pitchFamily="34" charset="0"/>
                <a:ea typeface="Calibri" pitchFamily="34" charset="-122"/>
                <a:cs typeface="Calibri" pitchFamily="34" charset="-120"/>
              </a:rPr>
              <a:t>Approve </a:t>
            </a:r>
            <a:endParaRPr lang="en-US" sz="1050" dirty="0"/>
          </a:p>
          <a:p>
            <a:pPr indent="0" marL="0">
              <a:spcAft>
                <a:spcPts val="300"/>
              </a:spcAft>
              <a:buNone/>
            </a:pPr>
            <a:r>
              <a:rPr lang="en-US" sz="1050" dirty="0">
                <a:solidFill>
                  <a:srgbClr val="1F2937"/>
                </a:solidFill>
                <a:latin typeface="Calibri" pitchFamily="34" charset="0"/>
                <a:ea typeface="Calibri" pitchFamily="34" charset="-122"/>
                <a:cs typeface="Calibri" pitchFamily="34" charset="-120"/>
              </a:rPr>
              <a:t>— marks the card green. Coordinator workflow tracker; does NOT gate the Apply action.</a:t>
            </a:r>
            <a:endParaRPr lang="en-US" sz="1050" dirty="0"/>
          </a:p>
          <a:p>
            <a:pPr indent="0" marL="0">
              <a:spcAft>
                <a:spcPts val="300"/>
              </a:spcAft>
              <a:buNone/>
            </a:pPr>
            <a:endParaRPr lang="en-US" sz="1050" dirty="0"/>
          </a:p>
          <a:p>
            <a:pPr indent="0" marL="0">
              <a:spcAft>
                <a:spcPts val="300"/>
              </a:spcAft>
              <a:buNone/>
            </a:pPr>
            <a:r>
              <a:rPr lang="en-US" sz="1050" b="1" dirty="0">
                <a:solidFill>
                  <a:srgbClr val="1F2937"/>
                </a:solidFill>
                <a:latin typeface="Calibri" pitchFamily="34" charset="0"/>
                <a:ea typeface="Calibri" pitchFamily="34" charset="-122"/>
                <a:cs typeface="Calibri" pitchFamily="34" charset="-120"/>
              </a:rPr>
              <a:t>Checkbox </a:t>
            </a:r>
            <a:endParaRPr lang="en-US" sz="1050" dirty="0"/>
          </a:p>
          <a:p>
            <a:pPr indent="0" marL="0">
              <a:spcAft>
                <a:spcPts val="300"/>
              </a:spcAft>
              <a:buNone/>
            </a:pPr>
            <a:r>
              <a:rPr lang="en-US" sz="1050" dirty="0">
                <a:solidFill>
                  <a:srgbClr val="1F2937"/>
                </a:solidFill>
                <a:latin typeface="Calibri" pitchFamily="34" charset="0"/>
                <a:ea typeface="Calibri" pitchFamily="34" charset="-122"/>
                <a:cs typeface="Calibri" pitchFamily="34" charset="-120"/>
              </a:rPr>
              <a:t>— select for bulk Send-to-tags / Apply-as-file / Reassign in the toolbar above.</a:t>
            </a:r>
            <a:endParaRPr lang="en-US" sz="1050" dirty="0"/>
          </a:p>
          <a:p>
            <a:pPr indent="0" marL="0">
              <a:spcAft>
                <a:spcPts val="300"/>
              </a:spcAft>
              <a:buNone/>
            </a:pPr>
            <a:endParaRPr lang="en-US" sz="1050" dirty="0"/>
          </a:p>
          <a:p>
            <a:pPr indent="0" marL="0">
              <a:spcAft>
                <a:spcPts val="300"/>
              </a:spcAft>
              <a:buNone/>
            </a:pPr>
            <a:r>
              <a:rPr lang="en-US" sz="1050" b="1" dirty="0">
                <a:solidFill>
                  <a:srgbClr val="1F2937"/>
                </a:solidFill>
                <a:latin typeface="Calibri" pitchFamily="34" charset="0"/>
                <a:ea typeface="Calibri" pitchFamily="34" charset="-122"/>
                <a:cs typeface="Calibri" pitchFamily="34" charset="-120"/>
              </a:rPr>
              <a:t>Click the body </a:t>
            </a:r>
            <a:endParaRPr lang="en-US" sz="1050" dirty="0"/>
          </a:p>
          <a:p>
            <a:pPr indent="0" marL="0">
              <a:spcAft>
                <a:spcPts val="300"/>
              </a:spcAft>
              <a:buNone/>
            </a:pPr>
            <a:r>
              <a:rPr lang="en-US" sz="1050" dirty="0">
                <a:solidFill>
                  <a:srgbClr val="1F2937"/>
                </a:solidFill>
                <a:latin typeface="Calibri" pitchFamily="34" charset="0"/>
                <a:ea typeface="Calibri" pitchFamily="34" charset="-122"/>
                <a:cs typeface="Calibri" pitchFamily="34" charset="-120"/>
              </a:rPr>
              <a:t>— opens the right-pane preview with the AI rationale.</a:t>
            </a:r>
            <a:endParaRPr lang="en-US" sz="1050" dirty="0"/>
          </a:p>
        </p:txBody>
      </p:sp>
      <p:sp>
        <p:nvSpPr>
          <p:cNvPr id="27" name="Shape 24"/>
          <p:cNvSpPr/>
          <p:nvPr/>
        </p:nvSpPr>
        <p:spPr>
          <a:xfrm>
            <a:off x="0" y="5029200"/>
            <a:ext cx="9144000" cy="114300"/>
          </a:xfrm>
          <a:prstGeom prst="rect">
            <a:avLst/>
          </a:prstGeom>
          <a:solidFill>
            <a:srgbClr val="81C784"/>
          </a:solidFill>
          <a:ln w="12700">
            <a:solidFill>
              <a:srgbClr val="81C784"/>
            </a:solidFill>
            <a:prstDash val="solid"/>
          </a:ln>
        </p:spPr>
      </p:sp>
      <p:sp>
        <p:nvSpPr>
          <p:cNvPr id="28" name="Text 25"/>
          <p:cNvSpPr/>
          <p:nvPr/>
        </p:nvSpPr>
        <p:spPr>
          <a:xfrm>
            <a:off x="8595360" y="4846320"/>
            <a:ext cx="457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04D2C"/>
          </a:solidFill>
          <a:ln w="12700">
            <a:solidFill>
              <a:srgbClr val="004D2C"/>
            </a:solidFill>
            <a:prstDash val="solid"/>
          </a:ln>
        </p:spPr>
      </p:sp>
      <p:pic>
        <p:nvPicPr>
          <p:cNvPr id="3" name="Image 0" descr="preencoded.png">    </p:cNvPr>
          <p:cNvPicPr>
            <a:picLocks noChangeAspect="1"/>
          </p:cNvPicPr>
          <p:nvPr/>
        </p:nvPicPr>
        <p:blipFill>
          <a:blip r:embed="rId1"/>
          <a:stretch>
            <a:fillRect/>
          </a:stretch>
        </p:blipFill>
        <p:spPr>
          <a:xfrm>
            <a:off x="91440" y="36576"/>
            <a:ext cx="292608" cy="292608"/>
          </a:xfrm>
          <a:prstGeom prst="rect">
            <a:avLst/>
          </a:prstGeom>
        </p:spPr>
      </p:pic>
      <p:sp>
        <p:nvSpPr>
          <p:cNvPr id="4" name="Text 1"/>
          <p:cNvSpPr/>
          <p:nvPr/>
        </p:nvSpPr>
        <p:spPr>
          <a:xfrm>
            <a:off x="457200" y="0"/>
            <a:ext cx="82296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 Import Wizard · User Guide</a:t>
            </a:r>
            <a:endParaRPr lang="en-US" sz="1000" dirty="0"/>
          </a:p>
        </p:txBody>
      </p:sp>
      <p:sp>
        <p:nvSpPr>
          <p:cNvPr id="5"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006B3F"/>
                </a:solidFill>
                <a:latin typeface="Calibri" pitchFamily="34" charset="0"/>
                <a:ea typeface="Calibri" pitchFamily="34" charset="-122"/>
                <a:cs typeface="Calibri" pitchFamily="34" charset="-120"/>
              </a:rPr>
              <a:t>STEP 3c</a:t>
            </a:r>
            <a:endParaRPr lang="en-US" sz="1100" dirty="0"/>
          </a:p>
        </p:txBody>
      </p:sp>
      <p:sp>
        <p:nvSpPr>
          <p:cNvPr id="6" name="Text 3"/>
          <p:cNvSpPr/>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004D2C"/>
                </a:solidFill>
                <a:latin typeface="Georgia" pitchFamily="34" charset="0"/>
                <a:ea typeface="Georgia" pitchFamily="34" charset="-122"/>
                <a:cs typeface="Georgia" pitchFamily="34" charset="-120"/>
              </a:rPr>
              <a:t>When a spec is empty: the correction loop</a:t>
            </a:r>
            <a:endParaRPr lang="en-US" sz="3200" dirty="0"/>
          </a:p>
        </p:txBody>
      </p:sp>
      <p:sp>
        <p:nvSpPr>
          <p:cNvPr id="7" name="Shape 4"/>
          <p:cNvSpPr/>
          <p:nvPr/>
        </p:nvSpPr>
        <p:spPr>
          <a:xfrm>
            <a:off x="320040" y="1645920"/>
            <a:ext cx="2743200" cy="237744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8" name="Shape 5"/>
          <p:cNvSpPr/>
          <p:nvPr/>
        </p:nvSpPr>
        <p:spPr>
          <a:xfrm>
            <a:off x="1371600" y="1828800"/>
            <a:ext cx="640080" cy="640080"/>
          </a:xfrm>
          <a:prstGeom prst="oval">
            <a:avLst/>
          </a:prstGeom>
          <a:solidFill>
            <a:srgbClr val="006B3F"/>
          </a:solidFill>
          <a:ln w="12700">
            <a:solidFill>
              <a:srgbClr val="006B3F"/>
            </a:solidFill>
            <a:prstDash val="solid"/>
          </a:ln>
        </p:spPr>
      </p:sp>
      <p:pic>
        <p:nvPicPr>
          <p:cNvPr id="9" name="Image 1" descr="preencoded.png">    </p:cNvPr>
          <p:cNvPicPr>
            <a:picLocks noChangeAspect="1"/>
          </p:cNvPicPr>
          <p:nvPr/>
        </p:nvPicPr>
        <p:blipFill>
          <a:blip r:embed="rId2"/>
          <a:stretch>
            <a:fillRect/>
          </a:stretch>
        </p:blipFill>
        <p:spPr>
          <a:xfrm>
            <a:off x="1508760" y="1965960"/>
            <a:ext cx="365760" cy="365760"/>
          </a:xfrm>
          <a:prstGeom prst="rect">
            <a:avLst/>
          </a:prstGeom>
        </p:spPr>
      </p:pic>
      <p:sp>
        <p:nvSpPr>
          <p:cNvPr id="10" name="Text 6"/>
          <p:cNvSpPr/>
          <p:nvPr/>
        </p:nvSpPr>
        <p:spPr>
          <a:xfrm>
            <a:off x="502920" y="2560320"/>
            <a:ext cx="2377440" cy="365760"/>
          </a:xfrm>
          <a:prstGeom prst="rect">
            <a:avLst/>
          </a:prstGeom>
          <a:noFill/>
          <a:ln/>
        </p:spPr>
        <p:txBody>
          <a:bodyPr wrap="square" lIns="0" tIns="0" rIns="0" bIns="0" rtlCol="0" anchor="ctr"/>
          <a:lstStyle/>
          <a:p>
            <a:pPr algn="ctr" indent="0" marL="0">
              <a:buNone/>
            </a:pPr>
            <a:r>
              <a:rPr lang="en-US" sz="1200" b="1" dirty="0">
                <a:solidFill>
                  <a:srgbClr val="004D2C"/>
                </a:solidFill>
                <a:latin typeface="Calibri" pitchFamily="34" charset="0"/>
                <a:ea typeface="Calibri" pitchFamily="34" charset="-122"/>
                <a:cs typeface="Calibri" pitchFamily="34" charset="-120"/>
              </a:rPr>
              <a:t>1. Click "+ Add from source"</a:t>
            </a:r>
            <a:endParaRPr lang="en-US" sz="1200" dirty="0"/>
          </a:p>
        </p:txBody>
      </p:sp>
      <p:sp>
        <p:nvSpPr>
          <p:cNvPr id="11" name="Text 7"/>
          <p:cNvSpPr/>
          <p:nvPr/>
        </p:nvSpPr>
        <p:spPr>
          <a:xfrm>
            <a:off x="502920" y="2926080"/>
            <a:ext cx="2377440" cy="105156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Visible on every empty spec card. Opens the source-DOCX viewer in selection mode.</a:t>
            </a:r>
            <a:endParaRPr lang="en-US" sz="1050" dirty="0"/>
          </a:p>
        </p:txBody>
      </p:sp>
      <p:sp>
        <p:nvSpPr>
          <p:cNvPr id="12" name="Shape 8"/>
          <p:cNvSpPr/>
          <p:nvPr/>
        </p:nvSpPr>
        <p:spPr>
          <a:xfrm>
            <a:off x="3200400" y="1645920"/>
            <a:ext cx="2743200" cy="237744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13" name="Shape 9"/>
          <p:cNvSpPr/>
          <p:nvPr/>
        </p:nvSpPr>
        <p:spPr>
          <a:xfrm>
            <a:off x="4251960" y="1828800"/>
            <a:ext cx="640080" cy="640080"/>
          </a:xfrm>
          <a:prstGeom prst="oval">
            <a:avLst/>
          </a:prstGeom>
          <a:solidFill>
            <a:srgbClr val="006B3F"/>
          </a:solidFill>
          <a:ln w="12700">
            <a:solidFill>
              <a:srgbClr val="006B3F"/>
            </a:solidFill>
            <a:prstDash val="solid"/>
          </a:ln>
        </p:spPr>
      </p:sp>
      <p:pic>
        <p:nvPicPr>
          <p:cNvPr id="14" name="Image 2" descr="preencoded.png">    </p:cNvPr>
          <p:cNvPicPr>
            <a:picLocks noChangeAspect="1"/>
          </p:cNvPicPr>
          <p:nvPr/>
        </p:nvPicPr>
        <p:blipFill>
          <a:blip r:embed="rId3"/>
          <a:stretch>
            <a:fillRect/>
          </a:stretch>
        </p:blipFill>
        <p:spPr>
          <a:xfrm>
            <a:off x="4389120" y="1965960"/>
            <a:ext cx="365760" cy="365760"/>
          </a:xfrm>
          <a:prstGeom prst="rect">
            <a:avLst/>
          </a:prstGeom>
        </p:spPr>
      </p:pic>
      <p:sp>
        <p:nvSpPr>
          <p:cNvPr id="15" name="Text 10"/>
          <p:cNvSpPr/>
          <p:nvPr/>
        </p:nvSpPr>
        <p:spPr>
          <a:xfrm>
            <a:off x="3383280" y="2560320"/>
            <a:ext cx="2377440" cy="365760"/>
          </a:xfrm>
          <a:prstGeom prst="rect">
            <a:avLst/>
          </a:prstGeom>
          <a:noFill/>
          <a:ln/>
        </p:spPr>
        <p:txBody>
          <a:bodyPr wrap="square" lIns="0" tIns="0" rIns="0" bIns="0" rtlCol="0" anchor="ctr"/>
          <a:lstStyle/>
          <a:p>
            <a:pPr algn="ctr" indent="0" marL="0">
              <a:buNone/>
            </a:pPr>
            <a:r>
              <a:rPr lang="en-US" sz="1200" b="1" dirty="0">
                <a:solidFill>
                  <a:srgbClr val="004D2C"/>
                </a:solidFill>
                <a:latin typeface="Calibri" pitchFamily="34" charset="0"/>
                <a:ea typeface="Calibri" pitchFamily="34" charset="-122"/>
                <a:cs typeface="Calibri" pitchFamily="34" charset="-120"/>
              </a:rPr>
              <a:t>2. Highlight the passage</a:t>
            </a:r>
            <a:endParaRPr lang="en-US" sz="1200" dirty="0"/>
          </a:p>
        </p:txBody>
      </p:sp>
      <p:sp>
        <p:nvSpPr>
          <p:cNvPr id="16" name="Text 11"/>
          <p:cNvSpPr/>
          <p:nvPr/>
        </p:nvSpPr>
        <p:spPr>
          <a:xfrm>
            <a:off x="3383280" y="2926080"/>
            <a:ext cx="2377440" cy="105156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Drag-select the text in the document that addresses this spec. Selected text shows at the bottom of the viewer.</a:t>
            </a:r>
            <a:endParaRPr lang="en-US" sz="1050" dirty="0"/>
          </a:p>
        </p:txBody>
      </p:sp>
      <p:sp>
        <p:nvSpPr>
          <p:cNvPr id="17" name="Shape 12"/>
          <p:cNvSpPr/>
          <p:nvPr/>
        </p:nvSpPr>
        <p:spPr>
          <a:xfrm>
            <a:off x="6080760" y="1645920"/>
            <a:ext cx="2743200" cy="237744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18" name="Shape 13"/>
          <p:cNvSpPr/>
          <p:nvPr/>
        </p:nvSpPr>
        <p:spPr>
          <a:xfrm>
            <a:off x="7132320" y="1828800"/>
            <a:ext cx="640080" cy="640080"/>
          </a:xfrm>
          <a:prstGeom prst="oval">
            <a:avLst/>
          </a:prstGeom>
          <a:solidFill>
            <a:srgbClr val="006B3F"/>
          </a:solidFill>
          <a:ln w="12700">
            <a:solidFill>
              <a:srgbClr val="006B3F"/>
            </a:solidFill>
            <a:prstDash val="solid"/>
          </a:ln>
        </p:spPr>
      </p:sp>
      <p:pic>
        <p:nvPicPr>
          <p:cNvPr id="19" name="Image 3" descr="preencoded.png">    </p:cNvPr>
          <p:cNvPicPr>
            <a:picLocks noChangeAspect="1"/>
          </p:cNvPicPr>
          <p:nvPr/>
        </p:nvPicPr>
        <p:blipFill>
          <a:blip r:embed="rId4"/>
          <a:stretch>
            <a:fillRect/>
          </a:stretch>
        </p:blipFill>
        <p:spPr>
          <a:xfrm>
            <a:off x="7269480" y="1965960"/>
            <a:ext cx="365760" cy="365760"/>
          </a:xfrm>
          <a:prstGeom prst="rect">
            <a:avLst/>
          </a:prstGeom>
        </p:spPr>
      </p:pic>
      <p:sp>
        <p:nvSpPr>
          <p:cNvPr id="20" name="Text 14"/>
          <p:cNvSpPr/>
          <p:nvPr/>
        </p:nvSpPr>
        <p:spPr>
          <a:xfrm>
            <a:off x="6263640" y="2560320"/>
            <a:ext cx="2377440" cy="365760"/>
          </a:xfrm>
          <a:prstGeom prst="rect">
            <a:avLst/>
          </a:prstGeom>
          <a:noFill/>
          <a:ln/>
        </p:spPr>
        <p:txBody>
          <a:bodyPr wrap="square" lIns="0" tIns="0" rIns="0" bIns="0" rtlCol="0" anchor="ctr"/>
          <a:lstStyle/>
          <a:p>
            <a:pPr algn="ctr" indent="0" marL="0">
              <a:buNone/>
            </a:pPr>
            <a:r>
              <a:rPr lang="en-US" sz="1200" b="1" dirty="0">
                <a:solidFill>
                  <a:srgbClr val="004D2C"/>
                </a:solidFill>
                <a:latin typeface="Calibri" pitchFamily="34" charset="0"/>
                <a:ea typeface="Calibri" pitchFamily="34" charset="-122"/>
                <a:cs typeface="Calibri" pitchFamily="34" charset="-120"/>
              </a:rPr>
              <a:t>3. Use this passage</a:t>
            </a:r>
            <a:endParaRPr lang="en-US" sz="1200" dirty="0"/>
          </a:p>
        </p:txBody>
      </p:sp>
      <p:sp>
        <p:nvSpPr>
          <p:cNvPr id="21" name="Text 15"/>
          <p:cNvSpPr/>
          <p:nvPr/>
        </p:nvSpPr>
        <p:spPr>
          <a:xfrm>
            <a:off x="6263640" y="2926080"/>
            <a:ext cx="2377440" cy="105156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Click confirm. The spec card fills instantly AND the matcher learns this example — per-institution scope, only your future runs.</a:t>
            </a:r>
            <a:endParaRPr lang="en-US" sz="1050" dirty="0"/>
          </a:p>
        </p:txBody>
      </p:sp>
      <p:sp>
        <p:nvSpPr>
          <p:cNvPr id="22" name="Shape 16"/>
          <p:cNvSpPr/>
          <p:nvPr/>
        </p:nvSpPr>
        <p:spPr>
          <a:xfrm>
            <a:off x="457200" y="4206240"/>
            <a:ext cx="8229600" cy="457200"/>
          </a:xfrm>
          <a:prstGeom prst="rect">
            <a:avLst/>
          </a:prstGeom>
          <a:solidFill>
            <a:srgbClr val="FEF3C7"/>
          </a:solidFill>
          <a:ln w="12700">
            <a:solidFill>
              <a:srgbClr val="FCD34D"/>
            </a:solidFill>
            <a:prstDash val="solid"/>
          </a:ln>
        </p:spPr>
      </p:sp>
      <p:pic>
        <p:nvPicPr>
          <p:cNvPr id="23" name="Image 4" descr="preencoded.png">    </p:cNvPr>
          <p:cNvPicPr>
            <a:picLocks noChangeAspect="1"/>
          </p:cNvPicPr>
          <p:nvPr/>
        </p:nvPicPr>
        <p:blipFill>
          <a:blip r:embed="rId5"/>
          <a:stretch>
            <a:fillRect/>
          </a:stretch>
        </p:blipFill>
        <p:spPr>
          <a:xfrm>
            <a:off x="594360" y="4297680"/>
            <a:ext cx="274320" cy="274320"/>
          </a:xfrm>
          <a:prstGeom prst="rect">
            <a:avLst/>
          </a:prstGeom>
        </p:spPr>
      </p:pic>
      <p:sp>
        <p:nvSpPr>
          <p:cNvPr id="24" name="Text 17"/>
          <p:cNvSpPr/>
          <p:nvPr/>
        </p:nvSpPr>
        <p:spPr>
          <a:xfrm>
            <a:off x="960120" y="4206240"/>
            <a:ext cx="7680960" cy="457200"/>
          </a:xfrm>
          <a:prstGeom prst="rect">
            <a:avLst/>
          </a:prstGeom>
          <a:noFill/>
          <a:ln/>
        </p:spPr>
        <p:txBody>
          <a:bodyPr wrap="square" lIns="0" tIns="0" rIns="0" bIns="0" rtlCol="0" anchor="ctr"/>
          <a:lstStyle/>
          <a:p>
            <a:pPr indent="0" marL="0">
              <a:buNone/>
            </a:pPr>
            <a:r>
              <a:rPr lang="en-US" sz="1100" i="1" dirty="0">
                <a:solidFill>
                  <a:srgbClr val="78350F"/>
                </a:solidFill>
                <a:latin typeface="Calibri" pitchFamily="34" charset="0"/>
                <a:ea typeface="Calibri" pitchFamily="34" charset="-122"/>
                <a:cs typeface="Calibri" pitchFamily="34" charset="-120"/>
              </a:rPr>
              <a:t>Your corrections become labeled examples in cshse_corrections_{env}. Stevenson’s corrections shape only Stevenson’s future runs.</a:t>
            </a:r>
            <a:endParaRPr lang="en-US" sz="1100" dirty="0"/>
          </a:p>
        </p:txBody>
      </p:sp>
      <p:sp>
        <p:nvSpPr>
          <p:cNvPr id="25" name="Shape 18"/>
          <p:cNvSpPr/>
          <p:nvPr/>
        </p:nvSpPr>
        <p:spPr>
          <a:xfrm>
            <a:off x="0" y="5029200"/>
            <a:ext cx="9144000" cy="114300"/>
          </a:xfrm>
          <a:prstGeom prst="rect">
            <a:avLst/>
          </a:prstGeom>
          <a:solidFill>
            <a:srgbClr val="81C784"/>
          </a:solidFill>
          <a:ln w="12700">
            <a:solidFill>
              <a:srgbClr val="81C784"/>
            </a:solidFill>
            <a:prstDash val="solid"/>
          </a:ln>
        </p:spPr>
      </p:sp>
      <p:sp>
        <p:nvSpPr>
          <p:cNvPr id="26" name="Text 19"/>
          <p:cNvSpPr/>
          <p:nvPr/>
        </p:nvSpPr>
        <p:spPr>
          <a:xfrm>
            <a:off x="8595360" y="4846320"/>
            <a:ext cx="457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04D2C"/>
          </a:solidFill>
          <a:ln w="12700">
            <a:solidFill>
              <a:srgbClr val="004D2C"/>
            </a:solidFill>
            <a:prstDash val="solid"/>
          </a:ln>
        </p:spPr>
      </p:sp>
      <p:pic>
        <p:nvPicPr>
          <p:cNvPr id="3" name="Image 0" descr="preencoded.png">    </p:cNvPr>
          <p:cNvPicPr>
            <a:picLocks noChangeAspect="1"/>
          </p:cNvPicPr>
          <p:nvPr/>
        </p:nvPicPr>
        <p:blipFill>
          <a:blip r:embed="rId1"/>
          <a:stretch>
            <a:fillRect/>
          </a:stretch>
        </p:blipFill>
        <p:spPr>
          <a:xfrm>
            <a:off x="91440" y="36576"/>
            <a:ext cx="292608" cy="292608"/>
          </a:xfrm>
          <a:prstGeom prst="rect">
            <a:avLst/>
          </a:prstGeom>
        </p:spPr>
      </p:pic>
      <p:sp>
        <p:nvSpPr>
          <p:cNvPr id="4" name="Text 1"/>
          <p:cNvSpPr/>
          <p:nvPr/>
        </p:nvSpPr>
        <p:spPr>
          <a:xfrm>
            <a:off x="457200" y="0"/>
            <a:ext cx="82296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 Import Wizard · User Guide</a:t>
            </a:r>
            <a:endParaRPr lang="en-US" sz="1000" dirty="0"/>
          </a:p>
        </p:txBody>
      </p:sp>
      <p:sp>
        <p:nvSpPr>
          <p:cNvPr id="5"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006B3F"/>
                </a:solidFill>
                <a:latin typeface="Calibri" pitchFamily="34" charset="0"/>
                <a:ea typeface="Calibri" pitchFamily="34" charset="-122"/>
                <a:cs typeface="Calibri" pitchFamily="34" charset="-120"/>
              </a:rPr>
              <a:t>STEP 4 OF 5</a:t>
            </a:r>
            <a:endParaRPr lang="en-US" sz="1100" dirty="0"/>
          </a:p>
        </p:txBody>
      </p:sp>
      <p:sp>
        <p:nvSpPr>
          <p:cNvPr id="6" name="Text 3"/>
          <p:cNvSpPr/>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004D2C"/>
                </a:solidFill>
                <a:latin typeface="Georgia" pitchFamily="34" charset="0"/>
                <a:ea typeface="Georgia" pitchFamily="34" charset="-122"/>
                <a:cs typeface="Georgia" pitchFamily="34" charset="-120"/>
              </a:rPr>
              <a:t>Step 4 — Matrix (optional)</a:t>
            </a:r>
            <a:endParaRPr lang="en-US" sz="3200" dirty="0"/>
          </a:p>
        </p:txBody>
      </p:sp>
      <p:sp>
        <p:nvSpPr>
          <p:cNvPr id="7" name="Shape 4"/>
          <p:cNvSpPr/>
          <p:nvPr/>
        </p:nvSpPr>
        <p:spPr>
          <a:xfrm>
            <a:off x="457200" y="1554480"/>
            <a:ext cx="3931920" cy="31089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8" name="Shape 5"/>
          <p:cNvSpPr/>
          <p:nvPr/>
        </p:nvSpPr>
        <p:spPr>
          <a:xfrm>
            <a:off x="457200" y="1554480"/>
            <a:ext cx="73152" cy="3108960"/>
          </a:xfrm>
          <a:prstGeom prst="rect">
            <a:avLst/>
          </a:prstGeom>
          <a:solidFill>
            <a:srgbClr val="006B3F"/>
          </a:solidFill>
          <a:ln w="12700">
            <a:solidFill>
              <a:srgbClr val="006B3F"/>
            </a:solidFill>
            <a:prstDash val="solid"/>
          </a:ln>
        </p:spPr>
      </p:sp>
      <p:sp>
        <p:nvSpPr>
          <p:cNvPr id="9" name="Text 6"/>
          <p:cNvSpPr/>
          <p:nvPr/>
        </p:nvSpPr>
        <p:spPr>
          <a:xfrm>
            <a:off x="685800" y="1691640"/>
            <a:ext cx="3657600" cy="274320"/>
          </a:xfrm>
          <a:prstGeom prst="rect">
            <a:avLst/>
          </a:prstGeom>
          <a:noFill/>
          <a:ln/>
        </p:spPr>
        <p:txBody>
          <a:bodyPr wrap="square" lIns="0" tIns="0" rIns="0" bIns="0" rtlCol="0" anchor="ctr"/>
          <a:lstStyle/>
          <a:p>
            <a:pPr indent="0" marL="0">
              <a:buNone/>
            </a:pPr>
            <a:r>
              <a:rPr lang="en-US" sz="1300" b="1" spc="400" kern="0" dirty="0">
                <a:solidFill>
                  <a:srgbClr val="004D2C"/>
                </a:solidFill>
                <a:latin typeface="Calibri" pitchFamily="34" charset="0"/>
                <a:ea typeface="Calibri" pitchFamily="34" charset="-122"/>
                <a:cs typeface="Calibri" pitchFamily="34" charset="-120"/>
              </a:rPr>
              <a:t>Purpose</a:t>
            </a:r>
            <a:endParaRPr lang="en-US" sz="1300" dirty="0"/>
          </a:p>
        </p:txBody>
      </p:sp>
      <p:sp>
        <p:nvSpPr>
          <p:cNvPr id="10" name="Text 7"/>
          <p:cNvSpPr/>
          <p:nvPr/>
        </p:nvSpPr>
        <p:spPr>
          <a:xfrm>
            <a:off x="777240" y="2011680"/>
            <a:ext cx="3657600" cy="2606040"/>
          </a:xfrm>
          <a:prstGeom prst="rect">
            <a:avLst/>
          </a:prstGeom>
          <a:noFill/>
          <a:ln/>
        </p:spPr>
        <p:txBody>
          <a:bodyPr wrap="square"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The AI extracted the matrix cell codes per column index (Col 1, Col 2 …).</a:t>
            </a:r>
            <a:endParaRPr lang="en-US" sz="1050" dirty="0"/>
          </a:p>
          <a:p>
            <a:pPr indent="0" marL="0">
              <a:buNone/>
            </a:pP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Mammoth’s DOCX→HTML often loses the course-code header (merged cells, styled rows). So the AI can’t name "Col 5" as HS301.</a:t>
            </a:r>
            <a:endParaRPr lang="en-US" sz="1050" dirty="0"/>
          </a:p>
          <a:p>
            <a:pPr indent="0" marL="0">
              <a:buNone/>
            </a:pP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This step asks you to map each Col N to a course in your ProgramCourses catalog.</a:t>
            </a:r>
            <a:endParaRPr lang="en-US" sz="1050" dirty="0"/>
          </a:p>
          <a:p>
            <a:pPr indent="0" marL="0">
              <a:buNone/>
            </a:pP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Once mapped, the cells persist to CurriculumMatrix.standards[] with real courseId references.</a:t>
            </a:r>
            <a:endParaRPr lang="en-US" sz="1050" dirty="0"/>
          </a:p>
        </p:txBody>
      </p:sp>
      <p:sp>
        <p:nvSpPr>
          <p:cNvPr id="11" name="Shape 8"/>
          <p:cNvSpPr/>
          <p:nvPr/>
        </p:nvSpPr>
        <p:spPr>
          <a:xfrm>
            <a:off x="4663440" y="1554480"/>
            <a:ext cx="4023360" cy="31089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12" name="Shape 9"/>
          <p:cNvSpPr/>
          <p:nvPr/>
        </p:nvSpPr>
        <p:spPr>
          <a:xfrm>
            <a:off x="4663440" y="1554480"/>
            <a:ext cx="73152" cy="3108960"/>
          </a:xfrm>
          <a:prstGeom prst="rect">
            <a:avLst/>
          </a:prstGeom>
          <a:solidFill>
            <a:srgbClr val="059669"/>
          </a:solidFill>
          <a:ln w="12700">
            <a:solidFill>
              <a:srgbClr val="059669"/>
            </a:solidFill>
            <a:prstDash val="solid"/>
          </a:ln>
        </p:spPr>
      </p:sp>
      <p:sp>
        <p:nvSpPr>
          <p:cNvPr id="13" name="Text 10"/>
          <p:cNvSpPr/>
          <p:nvPr/>
        </p:nvSpPr>
        <p:spPr>
          <a:xfrm>
            <a:off x="4892040" y="1691640"/>
            <a:ext cx="3657600" cy="274320"/>
          </a:xfrm>
          <a:prstGeom prst="rect">
            <a:avLst/>
          </a:prstGeom>
          <a:noFill/>
          <a:ln/>
        </p:spPr>
        <p:txBody>
          <a:bodyPr wrap="square" lIns="0" tIns="0" rIns="0" bIns="0" rtlCol="0" anchor="ctr"/>
          <a:lstStyle/>
          <a:p>
            <a:pPr indent="0" marL="0">
              <a:buNone/>
            </a:pPr>
            <a:r>
              <a:rPr lang="en-US" sz="1300" b="1" spc="400" kern="0" dirty="0">
                <a:solidFill>
                  <a:srgbClr val="059669"/>
                </a:solidFill>
                <a:latin typeface="Calibri" pitchFamily="34" charset="0"/>
                <a:ea typeface="Calibri" pitchFamily="34" charset="-122"/>
                <a:cs typeface="Calibri" pitchFamily="34" charset="-120"/>
              </a:rPr>
              <a:t>YOUR CHOICES</a:t>
            </a:r>
            <a:endParaRPr lang="en-US" sz="1300" dirty="0"/>
          </a:p>
        </p:txBody>
      </p:sp>
      <p:sp>
        <p:nvSpPr>
          <p:cNvPr id="14" name="Text 11"/>
          <p:cNvSpPr/>
          <p:nvPr/>
        </p:nvSpPr>
        <p:spPr>
          <a:xfrm>
            <a:off x="4892040" y="2011680"/>
            <a:ext cx="3749040" cy="2606040"/>
          </a:xfrm>
          <a:prstGeom prst="rect">
            <a:avLst/>
          </a:prstGeom>
          <a:noFill/>
          <a:ln/>
        </p:spPr>
        <p:txBody>
          <a:bodyPr wrap="square" rtlCol="0" anchor="ctr"/>
          <a:lstStyle/>
          <a:p>
            <a:pPr indent="0" marL="0">
              <a:spcAft>
                <a:spcPts val="300"/>
              </a:spcAft>
              <a:buNone/>
            </a:pPr>
            <a:r>
              <a:rPr lang="en-US" sz="1050" b="1" dirty="0">
                <a:solidFill>
                  <a:srgbClr val="1F2937"/>
                </a:solidFill>
                <a:latin typeface="Calibri" pitchFamily="34" charset="0"/>
                <a:ea typeface="Calibri" pitchFamily="34" charset="-122"/>
                <a:cs typeface="Calibri" pitchFamily="34" charset="-120"/>
              </a:rPr>
              <a:t>🟢 Map every column</a:t>
            </a:r>
            <a:endParaRPr lang="en-US" sz="1050" dirty="0"/>
          </a:p>
          <a:p>
            <a:pPr indent="0" marL="0">
              <a:spcAft>
                <a:spcPts val="300"/>
              </a:spcAft>
              <a:buNone/>
            </a:pPr>
            <a:r>
              <a:rPr lang="en-US" sz="1050" dirty="0">
                <a:solidFill>
                  <a:srgbClr val="1F2937"/>
                </a:solidFill>
                <a:latin typeface="Calibri" pitchFamily="34" charset="0"/>
                <a:ea typeface="Calibri" pitchFamily="34" charset="-122"/>
                <a:cs typeface="Calibri" pitchFamily="34" charset="-120"/>
              </a:rPr>
              <a:t>Pick a course in each dropdown. The cell table below previews how the matrix will land.</a:t>
            </a:r>
            <a:endParaRPr lang="en-US" sz="1050" dirty="0"/>
          </a:p>
          <a:p>
            <a:pPr indent="0" marL="0">
              <a:spcAft>
                <a:spcPts val="300"/>
              </a:spcAft>
              <a:buNone/>
            </a:pPr>
            <a:endParaRPr lang="en-US" sz="1050" dirty="0"/>
          </a:p>
          <a:p>
            <a:pPr indent="0" marL="0">
              <a:spcAft>
                <a:spcPts val="300"/>
              </a:spcAft>
              <a:buNone/>
            </a:pPr>
            <a:r>
              <a:rPr lang="en-US" sz="1050" b="1" dirty="0">
                <a:solidFill>
                  <a:srgbClr val="1F2937"/>
                </a:solidFill>
                <a:latin typeface="Calibri" pitchFamily="34" charset="0"/>
                <a:ea typeface="Calibri" pitchFamily="34" charset="-122"/>
                <a:cs typeface="Calibri" pitchFamily="34" charset="-120"/>
              </a:rPr>
              <a:t>🟡 Map some, skip the rest</a:t>
            </a:r>
            <a:endParaRPr lang="en-US" sz="1050" dirty="0"/>
          </a:p>
          <a:p>
            <a:pPr indent="0" marL="0">
              <a:spcAft>
                <a:spcPts val="300"/>
              </a:spcAft>
              <a:buNone/>
            </a:pPr>
            <a:r>
              <a:rPr lang="en-US" sz="1050" dirty="0">
                <a:solidFill>
                  <a:srgbClr val="1F2937"/>
                </a:solidFill>
                <a:latin typeface="Calibri" pitchFamily="34" charset="0"/>
                <a:ea typeface="Calibri" pitchFamily="34" charset="-122"/>
                <a:cs typeface="Calibri" pitchFamily="34" charset="-120"/>
              </a:rPr>
              <a:t>Partial mappings are fine. Cells in named columns persist; unmapped columns are dropped.</a:t>
            </a:r>
            <a:endParaRPr lang="en-US" sz="1050" dirty="0"/>
          </a:p>
          <a:p>
            <a:pPr indent="0" marL="0">
              <a:spcAft>
                <a:spcPts val="300"/>
              </a:spcAft>
              <a:buNone/>
            </a:pPr>
            <a:endParaRPr lang="en-US" sz="1050" dirty="0"/>
          </a:p>
          <a:p>
            <a:pPr indent="0" marL="0">
              <a:spcAft>
                <a:spcPts val="300"/>
              </a:spcAft>
              <a:buNone/>
            </a:pPr>
            <a:r>
              <a:rPr lang="en-US" sz="1050" b="1" dirty="0">
                <a:solidFill>
                  <a:srgbClr val="1F2937"/>
                </a:solidFill>
                <a:latin typeface="Calibri" pitchFamily="34" charset="0"/>
                <a:ea typeface="Calibri" pitchFamily="34" charset="-122"/>
                <a:cs typeface="Calibri" pitchFamily="34" charset="-120"/>
              </a:rPr>
              <a:t>⏭ Skip this matrix</a:t>
            </a:r>
            <a:endParaRPr lang="en-US" sz="1050" dirty="0"/>
          </a:p>
          <a:p>
            <a:pPr indent="0" marL="0">
              <a:spcAft>
                <a:spcPts val="300"/>
              </a:spcAft>
              <a:buNone/>
            </a:pPr>
            <a:r>
              <a:rPr lang="en-US" sz="1050" dirty="0">
                <a:solidFill>
                  <a:srgbClr val="1F2937"/>
                </a:solidFill>
                <a:latin typeface="Calibri" pitchFamily="34" charset="0"/>
                <a:ea typeface="Calibri" pitchFamily="34" charset="-122"/>
                <a:cs typeface="Calibri" pitchFamily="34" charset="-120"/>
              </a:rPr>
              <a:t>Check the "Skip this matrix" toggle in the top-right of the block. Populate manually later from the Curriculum Matrix tab.</a:t>
            </a:r>
            <a:endParaRPr lang="en-US" sz="1050" dirty="0"/>
          </a:p>
        </p:txBody>
      </p:sp>
      <p:sp>
        <p:nvSpPr>
          <p:cNvPr id="15" name="Shape 12"/>
          <p:cNvSpPr/>
          <p:nvPr/>
        </p:nvSpPr>
        <p:spPr>
          <a:xfrm>
            <a:off x="0" y="5029200"/>
            <a:ext cx="9144000" cy="114300"/>
          </a:xfrm>
          <a:prstGeom prst="rect">
            <a:avLst/>
          </a:prstGeom>
          <a:solidFill>
            <a:srgbClr val="81C784"/>
          </a:solidFill>
          <a:ln w="12700">
            <a:solidFill>
              <a:srgbClr val="81C784"/>
            </a:solidFill>
            <a:prstDash val="solid"/>
          </a:ln>
        </p:spPr>
      </p:sp>
      <p:sp>
        <p:nvSpPr>
          <p:cNvPr id="16" name="Text 13"/>
          <p:cNvSpPr/>
          <p:nvPr/>
        </p:nvSpPr>
        <p:spPr>
          <a:xfrm>
            <a:off x="8595360" y="4846320"/>
            <a:ext cx="457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04D2C"/>
          </a:solidFill>
          <a:ln w="12700">
            <a:solidFill>
              <a:srgbClr val="004D2C"/>
            </a:solidFill>
            <a:prstDash val="solid"/>
          </a:ln>
        </p:spPr>
      </p:sp>
      <p:pic>
        <p:nvPicPr>
          <p:cNvPr id="3" name="Image 0" descr="preencoded.png">    </p:cNvPr>
          <p:cNvPicPr>
            <a:picLocks noChangeAspect="1"/>
          </p:cNvPicPr>
          <p:nvPr/>
        </p:nvPicPr>
        <p:blipFill>
          <a:blip r:embed="rId1"/>
          <a:stretch>
            <a:fillRect/>
          </a:stretch>
        </p:blipFill>
        <p:spPr>
          <a:xfrm>
            <a:off x="91440" y="36576"/>
            <a:ext cx="292608" cy="292608"/>
          </a:xfrm>
          <a:prstGeom prst="rect">
            <a:avLst/>
          </a:prstGeom>
        </p:spPr>
      </p:pic>
      <p:sp>
        <p:nvSpPr>
          <p:cNvPr id="4" name="Text 1"/>
          <p:cNvSpPr/>
          <p:nvPr/>
        </p:nvSpPr>
        <p:spPr>
          <a:xfrm>
            <a:off x="457200" y="0"/>
            <a:ext cx="82296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 Import Wizard · User Guide</a:t>
            </a:r>
            <a:endParaRPr lang="en-US" sz="1000" dirty="0"/>
          </a:p>
        </p:txBody>
      </p:sp>
      <p:sp>
        <p:nvSpPr>
          <p:cNvPr id="5"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006B3F"/>
                </a:solidFill>
                <a:latin typeface="Calibri" pitchFamily="34" charset="0"/>
                <a:ea typeface="Calibri" pitchFamily="34" charset="-122"/>
                <a:cs typeface="Calibri" pitchFamily="34" charset="-120"/>
              </a:rPr>
              <a:t>STEP 4 · LEGEND</a:t>
            </a:r>
            <a:endParaRPr lang="en-US" sz="1100" dirty="0"/>
          </a:p>
        </p:txBody>
      </p:sp>
      <p:sp>
        <p:nvSpPr>
          <p:cNvPr id="6" name="Text 3"/>
          <p:cNvSpPr/>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004D2C"/>
                </a:solidFill>
                <a:latin typeface="Georgia" pitchFamily="34" charset="0"/>
                <a:ea typeface="Georgia" pitchFamily="34" charset="-122"/>
                <a:cs typeface="Georgia" pitchFamily="34" charset="-120"/>
              </a:rPr>
              <a:t>Matrix cell codes — quick reference</a:t>
            </a:r>
            <a:endParaRPr lang="en-US" sz="3200" dirty="0"/>
          </a:p>
        </p:txBody>
      </p:sp>
      <p:sp>
        <p:nvSpPr>
          <p:cNvPr id="7" name="Shape 4"/>
          <p:cNvSpPr/>
          <p:nvPr/>
        </p:nvSpPr>
        <p:spPr>
          <a:xfrm>
            <a:off x="457200" y="1645920"/>
            <a:ext cx="4114800" cy="30175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8" name="Text 5"/>
          <p:cNvSpPr/>
          <p:nvPr/>
        </p:nvSpPr>
        <p:spPr>
          <a:xfrm>
            <a:off x="640080" y="1737360"/>
            <a:ext cx="3657600" cy="274320"/>
          </a:xfrm>
          <a:prstGeom prst="rect">
            <a:avLst/>
          </a:prstGeom>
          <a:noFill/>
          <a:ln/>
        </p:spPr>
        <p:txBody>
          <a:bodyPr wrap="square" lIns="0" tIns="0" rIns="0" bIns="0" rtlCol="0" anchor="ctr"/>
          <a:lstStyle/>
          <a:p>
            <a:pPr indent="0" marL="0">
              <a:buNone/>
            </a:pPr>
            <a:r>
              <a:rPr lang="en-US" sz="1400" b="1" dirty="0">
                <a:solidFill>
                  <a:srgbClr val="004D2C"/>
                </a:solidFill>
                <a:latin typeface="Calibri" pitchFamily="34" charset="0"/>
                <a:ea typeface="Calibri" pitchFamily="34" charset="-122"/>
                <a:cs typeface="Calibri" pitchFamily="34" charset="-120"/>
              </a:rPr>
              <a:t>Content types</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3749040" cy="914400"/>
        </p:xfrm>
        <a:graphic>
          <a:graphicData uri="http://schemas.openxmlformats.org/drawingml/2006/table">
            <a:tbl>
              <a:tblPr/>
              <a:tblGrid>
                <a:gridCol w="822960"/>
                <a:gridCol w="292608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Code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6B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6B3F"/>
                    </a:solidFill>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I</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Introduction of the topic</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Theory</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K</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Knowledge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Skills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10" name="Shape 6"/>
          <p:cNvSpPr/>
          <p:nvPr/>
        </p:nvSpPr>
        <p:spPr>
          <a:xfrm>
            <a:off x="4754880" y="1645920"/>
            <a:ext cx="3931920" cy="30175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11" name="Text 7"/>
          <p:cNvSpPr/>
          <p:nvPr/>
        </p:nvSpPr>
        <p:spPr>
          <a:xfrm>
            <a:off x="4937760" y="1737360"/>
            <a:ext cx="3657600" cy="274320"/>
          </a:xfrm>
          <a:prstGeom prst="rect">
            <a:avLst/>
          </a:prstGeom>
          <a:noFill/>
          <a:ln/>
        </p:spPr>
        <p:txBody>
          <a:bodyPr wrap="square" lIns="0" tIns="0" rIns="0" bIns="0" rtlCol="0" anchor="ctr"/>
          <a:lstStyle/>
          <a:p>
            <a:pPr indent="0" marL="0">
              <a:buNone/>
            </a:pPr>
            <a:r>
              <a:rPr lang="en-US" sz="1400" b="1" dirty="0">
                <a:solidFill>
                  <a:srgbClr val="004D2C"/>
                </a:solidFill>
                <a:latin typeface="Calibri" pitchFamily="34" charset="0"/>
                <a:ea typeface="Calibri" pitchFamily="34" charset="-122"/>
                <a:cs typeface="Calibri" pitchFamily="34" charset="-120"/>
              </a:rPr>
              <a:t>Depth modifiers</a:t>
            </a:r>
            <a:endParaRPr lang="en-US" sz="14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4937760" y="2103120"/>
          <a:ext cx="3566160" cy="914400"/>
        </p:xfrm>
        <a:graphic>
          <a:graphicData uri="http://schemas.openxmlformats.org/drawingml/2006/table">
            <a:tbl>
              <a:tblPr/>
              <a:tblGrid>
                <a:gridCol w="822960"/>
                <a:gridCol w="274320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Code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6B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6B3F"/>
                    </a:solidFill>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Low depth</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Medium depth</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High depth</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13" name="Shape 8"/>
          <p:cNvSpPr/>
          <p:nvPr/>
        </p:nvSpPr>
        <p:spPr>
          <a:xfrm>
            <a:off x="457200" y="4297680"/>
            <a:ext cx="8229600" cy="365760"/>
          </a:xfrm>
          <a:prstGeom prst="rect">
            <a:avLst/>
          </a:prstGeom>
          <a:solidFill>
            <a:srgbClr val="F1F5F9"/>
          </a:solidFill>
          <a:ln w="12700">
            <a:solidFill>
              <a:srgbClr val="E2E8F0"/>
            </a:solidFill>
            <a:prstDash val="solid"/>
          </a:ln>
        </p:spPr>
      </p:sp>
      <p:sp>
        <p:nvSpPr>
          <p:cNvPr id="14" name="Text 9"/>
          <p:cNvSpPr/>
          <p:nvPr/>
        </p:nvSpPr>
        <p:spPr>
          <a:xfrm>
            <a:off x="594360" y="4297680"/>
            <a:ext cx="7955280" cy="365760"/>
          </a:xfrm>
          <a:prstGeom prst="rect">
            <a:avLst/>
          </a:prstGeom>
          <a:noFill/>
          <a:ln/>
        </p:spPr>
        <p:txBody>
          <a:bodyPr wrap="square" lIns="0" tIns="0" rIns="0" bIns="0" rtlCol="0" anchor="ctr"/>
          <a:lstStyle/>
          <a:p>
            <a:pPr indent="0" marL="0">
              <a:buNone/>
            </a:pPr>
            <a:r>
              <a:rPr lang="en-US" sz="1100" b="1" dirty="0">
                <a:solidFill>
                  <a:srgbClr val="004D2C"/>
                </a:solidFill>
                <a:latin typeface="Calibri" pitchFamily="34" charset="0"/>
                <a:ea typeface="Calibri" pitchFamily="34" charset="-122"/>
                <a:cs typeface="Calibri" pitchFamily="34" charset="-120"/>
              </a:rPr>
              <a:t>Example: </a:t>
            </a:r>
            <a:pPr indent="0" marL="0">
              <a:buNone/>
            </a:pPr>
            <a:r>
              <a:rPr lang="en-US" sz="1100" dirty="0">
                <a:solidFill>
                  <a:srgbClr val="1F2937"/>
                </a:solidFill>
                <a:latin typeface="Calibri" pitchFamily="34" charset="0"/>
                <a:ea typeface="Calibri" pitchFamily="34" charset="-122"/>
                <a:cs typeface="Calibri" pitchFamily="34" charset="-120"/>
              </a:rPr>
              <a:t>"I,KM" = Introduction + Knowledge at Medium depth · "T,L" = Theory at Low depth · "ITKSH" = all four content types at High depth.</a:t>
            </a:r>
            <a:endParaRPr lang="en-US" sz="1100" dirty="0"/>
          </a:p>
        </p:txBody>
      </p:sp>
      <p:sp>
        <p:nvSpPr>
          <p:cNvPr id="15" name="Shape 10"/>
          <p:cNvSpPr/>
          <p:nvPr/>
        </p:nvSpPr>
        <p:spPr>
          <a:xfrm>
            <a:off x="0" y="5029200"/>
            <a:ext cx="9144000" cy="114300"/>
          </a:xfrm>
          <a:prstGeom prst="rect">
            <a:avLst/>
          </a:prstGeom>
          <a:solidFill>
            <a:srgbClr val="81C784"/>
          </a:solidFill>
          <a:ln w="12700">
            <a:solidFill>
              <a:srgbClr val="81C784"/>
            </a:solidFill>
            <a:prstDash val="solid"/>
          </a:ln>
        </p:spPr>
      </p:sp>
      <p:sp>
        <p:nvSpPr>
          <p:cNvPr id="16" name="Text 11"/>
          <p:cNvSpPr/>
          <p:nvPr/>
        </p:nvSpPr>
        <p:spPr>
          <a:xfrm>
            <a:off x="8595360" y="4846320"/>
            <a:ext cx="457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04D2C"/>
          </a:solidFill>
          <a:ln w="12700">
            <a:solidFill>
              <a:srgbClr val="004D2C"/>
            </a:solidFill>
            <a:prstDash val="solid"/>
          </a:ln>
        </p:spPr>
      </p:sp>
      <p:pic>
        <p:nvPicPr>
          <p:cNvPr id="3" name="Image 0" descr="preencoded.png">    </p:cNvPr>
          <p:cNvPicPr>
            <a:picLocks noChangeAspect="1"/>
          </p:cNvPicPr>
          <p:nvPr/>
        </p:nvPicPr>
        <p:blipFill>
          <a:blip r:embed="rId1"/>
          <a:stretch>
            <a:fillRect/>
          </a:stretch>
        </p:blipFill>
        <p:spPr>
          <a:xfrm>
            <a:off x="91440" y="36576"/>
            <a:ext cx="292608" cy="292608"/>
          </a:xfrm>
          <a:prstGeom prst="rect">
            <a:avLst/>
          </a:prstGeom>
        </p:spPr>
      </p:pic>
      <p:sp>
        <p:nvSpPr>
          <p:cNvPr id="4" name="Text 1"/>
          <p:cNvSpPr/>
          <p:nvPr/>
        </p:nvSpPr>
        <p:spPr>
          <a:xfrm>
            <a:off x="457200" y="0"/>
            <a:ext cx="82296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 Import Wizard · User Guide</a:t>
            </a:r>
            <a:endParaRPr lang="en-US" sz="1000" dirty="0"/>
          </a:p>
        </p:txBody>
      </p:sp>
      <p:sp>
        <p:nvSpPr>
          <p:cNvPr id="5"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006B3F"/>
                </a:solidFill>
                <a:latin typeface="Calibri" pitchFamily="34" charset="0"/>
                <a:ea typeface="Calibri" pitchFamily="34" charset="-122"/>
                <a:cs typeface="Calibri" pitchFamily="34" charset="-120"/>
              </a:rPr>
              <a:t>STEP 5 OF 5</a:t>
            </a:r>
            <a:endParaRPr lang="en-US" sz="1100" dirty="0"/>
          </a:p>
        </p:txBody>
      </p:sp>
      <p:sp>
        <p:nvSpPr>
          <p:cNvPr id="6" name="Text 3"/>
          <p:cNvSpPr/>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004D2C"/>
                </a:solidFill>
                <a:latin typeface="Georgia" pitchFamily="34" charset="0"/>
                <a:ea typeface="Georgia" pitchFamily="34" charset="-122"/>
                <a:cs typeface="Georgia" pitchFamily="34" charset="-120"/>
              </a:rPr>
              <a:t>Step 5 — Apply</a:t>
            </a:r>
            <a:endParaRPr lang="en-US" sz="3200" dirty="0"/>
          </a:p>
        </p:txBody>
      </p:sp>
      <p:sp>
        <p:nvSpPr>
          <p:cNvPr id="7" name="Shape 4"/>
          <p:cNvSpPr/>
          <p:nvPr/>
        </p:nvSpPr>
        <p:spPr>
          <a:xfrm>
            <a:off x="457200" y="1554480"/>
            <a:ext cx="4023360" cy="31089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8" name="Text 5"/>
          <p:cNvSpPr/>
          <p:nvPr/>
        </p:nvSpPr>
        <p:spPr>
          <a:xfrm>
            <a:off x="640080" y="1691640"/>
            <a:ext cx="3657600" cy="274320"/>
          </a:xfrm>
          <a:prstGeom prst="rect">
            <a:avLst/>
          </a:prstGeom>
          <a:noFill/>
          <a:ln/>
        </p:spPr>
        <p:txBody>
          <a:bodyPr wrap="square" lIns="0" tIns="0" rIns="0" bIns="0" rtlCol="0" anchor="ctr"/>
          <a:lstStyle/>
          <a:p>
            <a:pPr indent="0" marL="0">
              <a:buNone/>
            </a:pPr>
            <a:r>
              <a:rPr lang="en-US" sz="1300" b="1" dirty="0">
                <a:solidFill>
                  <a:srgbClr val="004D2C"/>
                </a:solidFill>
                <a:latin typeface="Calibri" pitchFamily="34" charset="0"/>
                <a:ea typeface="Calibri" pitchFamily="34" charset="-122"/>
                <a:cs typeface="Calibri" pitchFamily="34" charset="-120"/>
              </a:rPr>
              <a:t>Two paths to the editor</a:t>
            </a:r>
            <a:endParaRPr lang="en-US" sz="1300" dirty="0"/>
          </a:p>
        </p:txBody>
      </p:sp>
      <p:sp>
        <p:nvSpPr>
          <p:cNvPr id="9" name="Text 6"/>
          <p:cNvSpPr/>
          <p:nvPr/>
        </p:nvSpPr>
        <p:spPr>
          <a:xfrm>
            <a:off x="640080" y="2057400"/>
            <a:ext cx="3657600" cy="274320"/>
          </a:xfrm>
          <a:prstGeom prst="rect">
            <a:avLst/>
          </a:prstGeom>
          <a:noFill/>
          <a:ln/>
        </p:spPr>
        <p:txBody>
          <a:bodyPr wrap="square" lIns="0" tIns="0" rIns="0" bIns="0"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Path A — One click</a:t>
            </a:r>
            <a:endParaRPr lang="en-US" sz="1200" dirty="0"/>
          </a:p>
        </p:txBody>
      </p:sp>
      <p:sp>
        <p:nvSpPr>
          <p:cNvPr id="10" name="Shape 7"/>
          <p:cNvSpPr/>
          <p:nvPr/>
        </p:nvSpPr>
        <p:spPr>
          <a:xfrm>
            <a:off x="640080" y="2331720"/>
            <a:ext cx="2194560" cy="365760"/>
          </a:xfrm>
          <a:prstGeom prst="rect">
            <a:avLst/>
          </a:prstGeom>
          <a:solidFill>
            <a:srgbClr val="059669"/>
          </a:solidFill>
          <a:ln w="12700">
            <a:solidFill>
              <a:srgbClr val="059669"/>
            </a:solidFill>
            <a:prstDash val="solid"/>
          </a:ln>
        </p:spPr>
      </p:sp>
      <p:pic>
        <p:nvPicPr>
          <p:cNvPr id="11" name="Image 1" descr="preencoded.png">    </p:cNvPr>
          <p:cNvPicPr>
            <a:picLocks noChangeAspect="1"/>
          </p:cNvPicPr>
          <p:nvPr/>
        </p:nvPicPr>
        <p:blipFill>
          <a:blip r:embed="rId2"/>
          <a:stretch>
            <a:fillRect/>
          </a:stretch>
        </p:blipFill>
        <p:spPr>
          <a:xfrm>
            <a:off x="731520" y="2395728"/>
            <a:ext cx="228600" cy="228600"/>
          </a:xfrm>
          <a:prstGeom prst="rect">
            <a:avLst/>
          </a:prstGeom>
        </p:spPr>
      </p:pic>
      <p:sp>
        <p:nvSpPr>
          <p:cNvPr id="12" name="Text 8"/>
          <p:cNvSpPr/>
          <p:nvPr/>
        </p:nvSpPr>
        <p:spPr>
          <a:xfrm>
            <a:off x="960120" y="2331720"/>
            <a:ext cx="1645920" cy="36576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Apply to editor</a:t>
            </a:r>
            <a:endParaRPr lang="en-US" sz="1100" dirty="0"/>
          </a:p>
        </p:txBody>
      </p:sp>
      <p:sp>
        <p:nvSpPr>
          <p:cNvPr id="13" name="Text 9"/>
          <p:cNvSpPr/>
          <p:nvPr/>
        </p:nvSpPr>
        <p:spPr>
          <a:xfrm>
            <a:off x="640080" y="2788920"/>
            <a:ext cx="3657600" cy="640080"/>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On the Review screen top toolbar. Opens confirm dialog → fires apply() → lands you on the success summary.</a:t>
            </a:r>
            <a:endParaRPr lang="en-US" sz="1000" dirty="0"/>
          </a:p>
        </p:txBody>
      </p:sp>
      <p:sp>
        <p:nvSpPr>
          <p:cNvPr id="14" name="Text 10"/>
          <p:cNvSpPr/>
          <p:nvPr/>
        </p:nvSpPr>
        <p:spPr>
          <a:xfrm>
            <a:off x="640080" y="3520440"/>
            <a:ext cx="3657600" cy="274320"/>
          </a:xfrm>
          <a:prstGeom prst="rect">
            <a:avLst/>
          </a:prstGeom>
          <a:noFill/>
          <a:ln/>
        </p:spPr>
        <p:txBody>
          <a:bodyPr wrap="square" lIns="0" tIns="0" rIns="0" bIns="0" rtlCol="0" anchor="ctr"/>
          <a:lstStyle/>
          <a:p>
            <a:pPr indent="0" marL="0">
              <a:buNone/>
            </a:pPr>
            <a:r>
              <a:rPr lang="en-US" sz="1200" b="1" dirty="0">
                <a:solidFill>
                  <a:srgbClr val="004D2C"/>
                </a:solidFill>
                <a:latin typeface="Calibri" pitchFamily="34" charset="0"/>
                <a:ea typeface="Calibri" pitchFamily="34" charset="-122"/>
                <a:cs typeface="Calibri" pitchFamily="34" charset="-120"/>
              </a:rPr>
              <a:t>Path B — Guided</a:t>
            </a:r>
            <a:endParaRPr lang="en-US" sz="1200" dirty="0"/>
          </a:p>
        </p:txBody>
      </p:sp>
      <p:sp>
        <p:nvSpPr>
          <p:cNvPr id="15" name="Text 11"/>
          <p:cNvSpPr/>
          <p:nvPr/>
        </p:nvSpPr>
        <p:spPr>
          <a:xfrm>
            <a:off x="640080" y="3794760"/>
            <a:ext cx="3657600" cy="868680"/>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Next: Matrix ▸ → map columns → Next: Apply ▸ → pick merge mode → Apply &amp; finish. Use when re-importing into an existing self-study where merge behavior matters.</a:t>
            </a:r>
            <a:endParaRPr lang="en-US" sz="1000" dirty="0"/>
          </a:p>
        </p:txBody>
      </p:sp>
      <p:sp>
        <p:nvSpPr>
          <p:cNvPr id="16" name="Shape 12"/>
          <p:cNvSpPr/>
          <p:nvPr/>
        </p:nvSpPr>
        <p:spPr>
          <a:xfrm>
            <a:off x="4754880" y="1554480"/>
            <a:ext cx="3931920" cy="31089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sp>
        <p:nvSpPr>
          <p:cNvPr id="17" name="Text 13"/>
          <p:cNvSpPr/>
          <p:nvPr/>
        </p:nvSpPr>
        <p:spPr>
          <a:xfrm>
            <a:off x="4937760" y="1691640"/>
            <a:ext cx="3566160" cy="274320"/>
          </a:xfrm>
          <a:prstGeom prst="rect">
            <a:avLst/>
          </a:prstGeom>
          <a:noFill/>
          <a:ln/>
        </p:spPr>
        <p:txBody>
          <a:bodyPr wrap="square" lIns="0" tIns="0" rIns="0" bIns="0" rtlCol="0" anchor="ctr"/>
          <a:lstStyle/>
          <a:p>
            <a:pPr indent="0" marL="0">
              <a:buNone/>
            </a:pPr>
            <a:r>
              <a:rPr lang="en-US" sz="1400" b="1" dirty="0">
                <a:solidFill>
                  <a:srgbClr val="1F2937"/>
                </a:solidFill>
                <a:latin typeface="Georgia" pitchFamily="34" charset="0"/>
                <a:ea typeface="Georgia" pitchFamily="34" charset="-122"/>
                <a:cs typeface="Georgia" pitchFamily="34" charset="-120"/>
              </a:rPr>
              <a:t>Send everything to the editor?</a:t>
            </a:r>
            <a:endParaRPr lang="en-US" sz="1400" dirty="0"/>
          </a:p>
        </p:txBody>
      </p:sp>
      <p:sp>
        <p:nvSpPr>
          <p:cNvPr id="18" name="Text 14"/>
          <p:cNvSpPr/>
          <p:nvPr/>
        </p:nvSpPr>
        <p:spPr>
          <a:xfrm>
            <a:off x="4937760" y="1965960"/>
            <a:ext cx="3566160" cy="502920"/>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The following items will be written to the standards editor. Existing content stays — new content is merged in.</a:t>
            </a:r>
            <a:endParaRPr lang="en-US" sz="1000" dirty="0"/>
          </a:p>
        </p:txBody>
      </p:sp>
      <p:sp>
        <p:nvSpPr>
          <p:cNvPr id="19" name="Shape 15"/>
          <p:cNvSpPr/>
          <p:nvPr/>
        </p:nvSpPr>
        <p:spPr>
          <a:xfrm>
            <a:off x="4937760" y="2514600"/>
            <a:ext cx="3566160" cy="1463040"/>
          </a:xfrm>
          <a:prstGeom prst="rect">
            <a:avLst/>
          </a:prstGeom>
          <a:solidFill>
            <a:srgbClr val="F8FAFC"/>
          </a:solidFill>
          <a:ln w="12700">
            <a:solidFill>
              <a:srgbClr val="E2E8F0"/>
            </a:solidFill>
            <a:prstDash val="solid"/>
          </a:ln>
        </p:spPr>
      </p:sp>
      <p:sp>
        <p:nvSpPr>
          <p:cNvPr id="20" name="Text 16"/>
          <p:cNvSpPr/>
          <p:nvPr/>
        </p:nvSpPr>
        <p:spPr>
          <a:xfrm>
            <a:off x="5074920" y="2606040"/>
            <a:ext cx="3383280" cy="132588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 N narratives</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 N supporting evidence text</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 N evidence files</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 N matrix cells across N matrices</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 N unplaced items → Tag list</a:t>
            </a:r>
            <a:endParaRPr lang="en-US" sz="1100" dirty="0"/>
          </a:p>
        </p:txBody>
      </p:sp>
      <p:sp>
        <p:nvSpPr>
          <p:cNvPr id="21" name="Shape 17"/>
          <p:cNvSpPr/>
          <p:nvPr/>
        </p:nvSpPr>
        <p:spPr>
          <a:xfrm>
            <a:off x="6583680" y="4160520"/>
            <a:ext cx="2011680" cy="320040"/>
          </a:xfrm>
          <a:prstGeom prst="rect">
            <a:avLst/>
          </a:prstGeom>
          <a:solidFill>
            <a:srgbClr val="059669"/>
          </a:solidFill>
          <a:ln w="12700">
            <a:solidFill>
              <a:srgbClr val="059669"/>
            </a:solidFill>
            <a:prstDash val="solid"/>
          </a:ln>
        </p:spPr>
      </p:sp>
      <p:sp>
        <p:nvSpPr>
          <p:cNvPr id="22" name="Text 18"/>
          <p:cNvSpPr/>
          <p:nvPr/>
        </p:nvSpPr>
        <p:spPr>
          <a:xfrm>
            <a:off x="6583680" y="4160520"/>
            <a:ext cx="201168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Confirm — send to editor</a:t>
            </a:r>
            <a:endParaRPr lang="en-US" sz="950" dirty="0"/>
          </a:p>
        </p:txBody>
      </p:sp>
      <p:sp>
        <p:nvSpPr>
          <p:cNvPr id="23" name="Shape 19"/>
          <p:cNvSpPr/>
          <p:nvPr/>
        </p:nvSpPr>
        <p:spPr>
          <a:xfrm>
            <a:off x="5852160" y="4160520"/>
            <a:ext cx="640080" cy="320040"/>
          </a:xfrm>
          <a:prstGeom prst="rect">
            <a:avLst/>
          </a:prstGeom>
          <a:solidFill>
            <a:srgbClr val="FFFFFF"/>
          </a:solidFill>
          <a:ln w="12700">
            <a:solidFill>
              <a:srgbClr val="D1D5DB"/>
            </a:solidFill>
            <a:prstDash val="solid"/>
          </a:ln>
        </p:spPr>
      </p:sp>
      <p:sp>
        <p:nvSpPr>
          <p:cNvPr id="24" name="Text 20"/>
          <p:cNvSpPr/>
          <p:nvPr/>
        </p:nvSpPr>
        <p:spPr>
          <a:xfrm>
            <a:off x="5852160" y="4160520"/>
            <a:ext cx="640080" cy="32004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Cancel</a:t>
            </a:r>
            <a:endParaRPr lang="en-US" sz="950" dirty="0"/>
          </a:p>
        </p:txBody>
      </p:sp>
      <p:sp>
        <p:nvSpPr>
          <p:cNvPr id="25" name="Shape 21"/>
          <p:cNvSpPr/>
          <p:nvPr/>
        </p:nvSpPr>
        <p:spPr>
          <a:xfrm>
            <a:off x="0" y="5029200"/>
            <a:ext cx="9144000" cy="114300"/>
          </a:xfrm>
          <a:prstGeom prst="rect">
            <a:avLst/>
          </a:prstGeom>
          <a:solidFill>
            <a:srgbClr val="81C784"/>
          </a:solidFill>
          <a:ln w="12700">
            <a:solidFill>
              <a:srgbClr val="81C784"/>
            </a:solidFill>
            <a:prstDash val="solid"/>
          </a:ln>
        </p:spPr>
      </p:sp>
      <p:sp>
        <p:nvSpPr>
          <p:cNvPr id="26" name="Text 22"/>
          <p:cNvSpPr/>
          <p:nvPr/>
        </p:nvSpPr>
        <p:spPr>
          <a:xfrm>
            <a:off x="8595360" y="4846320"/>
            <a:ext cx="457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04D2C"/>
          </a:solidFill>
          <a:ln w="12700">
            <a:solidFill>
              <a:srgbClr val="004D2C"/>
            </a:solidFill>
            <a:prstDash val="solid"/>
          </a:ln>
        </p:spPr>
      </p:sp>
      <p:pic>
        <p:nvPicPr>
          <p:cNvPr id="3" name="Image 0" descr="preencoded.png">    </p:cNvPr>
          <p:cNvPicPr>
            <a:picLocks noChangeAspect="1"/>
          </p:cNvPicPr>
          <p:nvPr/>
        </p:nvPicPr>
        <p:blipFill>
          <a:blip r:embed="rId1"/>
          <a:stretch>
            <a:fillRect/>
          </a:stretch>
        </p:blipFill>
        <p:spPr>
          <a:xfrm>
            <a:off x="91440" y="36576"/>
            <a:ext cx="292608" cy="292608"/>
          </a:xfrm>
          <a:prstGeom prst="rect">
            <a:avLst/>
          </a:prstGeom>
        </p:spPr>
      </p:pic>
      <p:sp>
        <p:nvSpPr>
          <p:cNvPr id="4" name="Text 1"/>
          <p:cNvSpPr/>
          <p:nvPr/>
        </p:nvSpPr>
        <p:spPr>
          <a:xfrm>
            <a:off x="457200" y="0"/>
            <a:ext cx="82296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 Import Wizard · User Guide</a:t>
            </a:r>
            <a:endParaRPr lang="en-US" sz="1000" dirty="0"/>
          </a:p>
        </p:txBody>
      </p:sp>
      <p:sp>
        <p:nvSpPr>
          <p:cNvPr id="5"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006B3F"/>
                </a:solidFill>
                <a:latin typeface="Calibri" pitchFamily="34" charset="0"/>
                <a:ea typeface="Calibri" pitchFamily="34" charset="-122"/>
                <a:cs typeface="Calibri" pitchFamily="34" charset="-120"/>
              </a:rPr>
              <a:t>ROUND-TRIP</a:t>
            </a:r>
            <a:endParaRPr lang="en-US" sz="1100" dirty="0"/>
          </a:p>
        </p:txBody>
      </p:sp>
      <p:sp>
        <p:nvSpPr>
          <p:cNvPr id="6" name="Text 3"/>
          <p:cNvSpPr/>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004D2C"/>
                </a:solidFill>
                <a:latin typeface="Georgia" pitchFamily="34" charset="0"/>
                <a:ea typeface="Georgia" pitchFamily="34" charset="-122"/>
                <a:cs typeface="Georgia" pitchFamily="34" charset="-120"/>
              </a:rPr>
              <a:t>What lands in the Standards editor</a:t>
            </a:r>
            <a:endParaRPr lang="en-US" sz="3200" dirty="0"/>
          </a:p>
        </p:txBody>
      </p:sp>
      <p:sp>
        <p:nvSpPr>
          <p:cNvPr id="7" name="Shape 4"/>
          <p:cNvSpPr/>
          <p:nvPr/>
        </p:nvSpPr>
        <p:spPr>
          <a:xfrm>
            <a:off x="457200" y="1554480"/>
            <a:ext cx="4023360" cy="14173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8" name="Image 1" descr="preencoded.png">    </p:cNvPr>
          <p:cNvPicPr>
            <a:picLocks noChangeAspect="1"/>
          </p:cNvPicPr>
          <p:nvPr/>
        </p:nvPicPr>
        <p:blipFill>
          <a:blip r:embed="rId2"/>
          <a:stretch>
            <a:fillRect/>
          </a:stretch>
        </p:blipFill>
        <p:spPr>
          <a:xfrm>
            <a:off x="594360" y="1737360"/>
            <a:ext cx="457200" cy="457200"/>
          </a:xfrm>
          <a:prstGeom prst="rect">
            <a:avLst/>
          </a:prstGeom>
        </p:spPr>
      </p:pic>
      <p:sp>
        <p:nvSpPr>
          <p:cNvPr id="9" name="Text 5"/>
          <p:cNvSpPr/>
          <p:nvPr/>
        </p:nvSpPr>
        <p:spPr>
          <a:xfrm>
            <a:off x="1143000" y="1691640"/>
            <a:ext cx="3200400" cy="320040"/>
          </a:xfrm>
          <a:prstGeom prst="rect">
            <a:avLst/>
          </a:prstGeom>
          <a:noFill/>
          <a:ln/>
        </p:spPr>
        <p:txBody>
          <a:bodyPr wrap="square" lIns="0" tIns="0" rIns="0" bIns="0" rtlCol="0" anchor="ctr"/>
          <a:lstStyle/>
          <a:p>
            <a:pPr indent="0" marL="0">
              <a:buNone/>
            </a:pPr>
            <a:r>
              <a:rPr lang="en-US" sz="1300" b="1" dirty="0">
                <a:solidFill>
                  <a:srgbClr val="004D2C"/>
                </a:solidFill>
                <a:latin typeface="Calibri" pitchFamily="34" charset="0"/>
                <a:ea typeface="Calibri" pitchFamily="34" charset="-122"/>
                <a:cs typeface="Calibri" pitchFamily="34" charset="-120"/>
              </a:rPr>
              <a:t>Standards tab</a:t>
            </a:r>
            <a:endParaRPr lang="en-US" sz="1300" dirty="0"/>
          </a:p>
        </p:txBody>
      </p:sp>
      <p:sp>
        <p:nvSpPr>
          <p:cNvPr id="10" name="Text 6"/>
          <p:cNvSpPr/>
          <p:nvPr/>
        </p:nvSpPr>
        <p:spPr>
          <a:xfrm>
            <a:off x="594360" y="2240280"/>
            <a:ext cx="3749040" cy="685800"/>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Narratives appear under each (Standard, Spec). Each card wraps the AI rationale + confidence in a styled &lt;div class="ai-analysis"&gt; block.</a:t>
            </a:r>
            <a:endParaRPr lang="en-US" sz="1000" dirty="0"/>
          </a:p>
        </p:txBody>
      </p:sp>
      <p:sp>
        <p:nvSpPr>
          <p:cNvPr id="11" name="Shape 7"/>
          <p:cNvSpPr/>
          <p:nvPr/>
        </p:nvSpPr>
        <p:spPr>
          <a:xfrm>
            <a:off x="4663440" y="1554480"/>
            <a:ext cx="4023360" cy="14173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12" name="Image 2" descr="preencoded.png">    </p:cNvPr>
          <p:cNvPicPr>
            <a:picLocks noChangeAspect="1"/>
          </p:cNvPicPr>
          <p:nvPr/>
        </p:nvPicPr>
        <p:blipFill>
          <a:blip r:embed="rId3"/>
          <a:stretch>
            <a:fillRect/>
          </a:stretch>
        </p:blipFill>
        <p:spPr>
          <a:xfrm>
            <a:off x="4800600" y="1737360"/>
            <a:ext cx="457200" cy="457200"/>
          </a:xfrm>
          <a:prstGeom prst="rect">
            <a:avLst/>
          </a:prstGeom>
        </p:spPr>
      </p:pic>
      <p:sp>
        <p:nvSpPr>
          <p:cNvPr id="13" name="Text 8"/>
          <p:cNvSpPr/>
          <p:nvPr/>
        </p:nvSpPr>
        <p:spPr>
          <a:xfrm>
            <a:off x="5349240" y="1691640"/>
            <a:ext cx="3200400" cy="320040"/>
          </a:xfrm>
          <a:prstGeom prst="rect">
            <a:avLst/>
          </a:prstGeom>
          <a:noFill/>
          <a:ln/>
        </p:spPr>
        <p:txBody>
          <a:bodyPr wrap="square" lIns="0" tIns="0" rIns="0" bIns="0" rtlCol="0" anchor="ctr"/>
          <a:lstStyle/>
          <a:p>
            <a:pPr indent="0" marL="0">
              <a:buNone/>
            </a:pPr>
            <a:r>
              <a:rPr lang="en-US" sz="1300" b="1" dirty="0">
                <a:solidFill>
                  <a:srgbClr val="004D2C"/>
                </a:solidFill>
                <a:latin typeface="Calibri" pitchFamily="34" charset="0"/>
                <a:ea typeface="Calibri" pitchFamily="34" charset="-122"/>
                <a:cs typeface="Calibri" pitchFamily="34" charset="-120"/>
              </a:rPr>
              <a:t>Curriculum Matrix tab</a:t>
            </a:r>
            <a:endParaRPr lang="en-US" sz="1300" dirty="0"/>
          </a:p>
        </p:txBody>
      </p:sp>
      <p:sp>
        <p:nvSpPr>
          <p:cNvPr id="14" name="Text 9"/>
          <p:cNvSpPr/>
          <p:nvPr/>
        </p:nvSpPr>
        <p:spPr>
          <a:xfrm>
            <a:off x="4800600" y="2240280"/>
            <a:ext cx="3749040" cy="685800"/>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One CurriculumMatrix doc per detected matrix. The matrix HTML is seeded into rawContent so you can see the full grid + row anchors right away.</a:t>
            </a:r>
            <a:endParaRPr lang="en-US" sz="1000" dirty="0"/>
          </a:p>
        </p:txBody>
      </p:sp>
      <p:sp>
        <p:nvSpPr>
          <p:cNvPr id="15" name="Shape 10"/>
          <p:cNvSpPr/>
          <p:nvPr/>
        </p:nvSpPr>
        <p:spPr>
          <a:xfrm>
            <a:off x="457200" y="3154680"/>
            <a:ext cx="4023360" cy="14173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16" name="Image 3" descr="preencoded.png">    </p:cNvPr>
          <p:cNvPicPr>
            <a:picLocks noChangeAspect="1"/>
          </p:cNvPicPr>
          <p:nvPr/>
        </p:nvPicPr>
        <p:blipFill>
          <a:blip r:embed="rId4"/>
          <a:stretch>
            <a:fillRect/>
          </a:stretch>
        </p:blipFill>
        <p:spPr>
          <a:xfrm>
            <a:off x="594360" y="3337560"/>
            <a:ext cx="457200" cy="457200"/>
          </a:xfrm>
          <a:prstGeom prst="rect">
            <a:avLst/>
          </a:prstGeom>
        </p:spPr>
      </p:pic>
      <p:sp>
        <p:nvSpPr>
          <p:cNvPr id="17" name="Text 11"/>
          <p:cNvSpPr/>
          <p:nvPr/>
        </p:nvSpPr>
        <p:spPr>
          <a:xfrm>
            <a:off x="1143000" y="3291840"/>
            <a:ext cx="3200400" cy="320040"/>
          </a:xfrm>
          <a:prstGeom prst="rect">
            <a:avLst/>
          </a:prstGeom>
          <a:noFill/>
          <a:ln/>
        </p:spPr>
        <p:txBody>
          <a:bodyPr wrap="square" lIns="0" tIns="0" rIns="0" bIns="0" rtlCol="0" anchor="ctr"/>
          <a:lstStyle/>
          <a:p>
            <a:pPr indent="0" marL="0">
              <a:buNone/>
            </a:pPr>
            <a:r>
              <a:rPr lang="en-US" sz="1300" b="1" dirty="0">
                <a:solidFill>
                  <a:srgbClr val="004D2C"/>
                </a:solidFill>
                <a:latin typeface="Calibri" pitchFamily="34" charset="0"/>
                <a:ea typeface="Calibri" pitchFamily="34" charset="-122"/>
                <a:cs typeface="Calibri" pitchFamily="34" charset="-120"/>
              </a:rPr>
              <a:t>Tag list</a:t>
            </a:r>
            <a:endParaRPr lang="en-US" sz="1300" dirty="0"/>
          </a:p>
        </p:txBody>
      </p:sp>
      <p:sp>
        <p:nvSpPr>
          <p:cNvPr id="18" name="Text 12"/>
          <p:cNvSpPr/>
          <p:nvPr/>
        </p:nvSpPr>
        <p:spPr>
          <a:xfrm>
            <a:off x="594360" y="3840480"/>
            <a:ext cx="3749040" cy="685800"/>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Items the matcher couldn’t confidently route land here. Use the editor’s tag panel to triage at your own pace.</a:t>
            </a:r>
            <a:endParaRPr lang="en-US" sz="1000" dirty="0"/>
          </a:p>
        </p:txBody>
      </p:sp>
      <p:sp>
        <p:nvSpPr>
          <p:cNvPr id="19" name="Shape 13"/>
          <p:cNvSpPr/>
          <p:nvPr/>
        </p:nvSpPr>
        <p:spPr>
          <a:xfrm>
            <a:off x="4663440" y="3154680"/>
            <a:ext cx="4023360" cy="14173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20" name="Image 4" descr="preencoded.png">    </p:cNvPr>
          <p:cNvPicPr>
            <a:picLocks noChangeAspect="1"/>
          </p:cNvPicPr>
          <p:nvPr/>
        </p:nvPicPr>
        <p:blipFill>
          <a:blip r:embed="rId5"/>
          <a:stretch>
            <a:fillRect/>
          </a:stretch>
        </p:blipFill>
        <p:spPr>
          <a:xfrm>
            <a:off x="4800600" y="3337560"/>
            <a:ext cx="457200" cy="457200"/>
          </a:xfrm>
          <a:prstGeom prst="rect">
            <a:avLst/>
          </a:prstGeom>
        </p:spPr>
      </p:pic>
      <p:sp>
        <p:nvSpPr>
          <p:cNvPr id="21" name="Text 14"/>
          <p:cNvSpPr/>
          <p:nvPr/>
        </p:nvSpPr>
        <p:spPr>
          <a:xfrm>
            <a:off x="5349240" y="3291840"/>
            <a:ext cx="3200400" cy="320040"/>
          </a:xfrm>
          <a:prstGeom prst="rect">
            <a:avLst/>
          </a:prstGeom>
          <a:noFill/>
          <a:ln/>
        </p:spPr>
        <p:txBody>
          <a:bodyPr wrap="square" lIns="0" tIns="0" rIns="0" bIns="0" rtlCol="0" anchor="ctr"/>
          <a:lstStyle/>
          <a:p>
            <a:pPr indent="0" marL="0">
              <a:buNone/>
            </a:pPr>
            <a:r>
              <a:rPr lang="en-US" sz="1300" b="1" dirty="0">
                <a:solidFill>
                  <a:srgbClr val="004D2C"/>
                </a:solidFill>
                <a:latin typeface="Calibri" pitchFamily="34" charset="0"/>
                <a:ea typeface="Calibri" pitchFamily="34" charset="-122"/>
                <a:cs typeface="Calibri" pitchFamily="34" charset="-120"/>
              </a:rPr>
              <a:t>Supporting evidence</a:t>
            </a:r>
            <a:endParaRPr lang="en-US" sz="1300" dirty="0"/>
          </a:p>
        </p:txBody>
      </p:sp>
      <p:sp>
        <p:nvSpPr>
          <p:cNvPr id="22" name="Text 15"/>
          <p:cNvSpPr/>
          <p:nvPr/>
        </p:nvSpPr>
        <p:spPr>
          <a:xfrm>
            <a:off x="4800600" y="3840480"/>
            <a:ext cx="3749040" cy="685800"/>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Long-form evidence text is stored on Submission.narratives[std][spec].supportingEvidenceText. Files become SupportingEvidence rows.</a:t>
            </a:r>
            <a:endParaRPr lang="en-US" sz="1000" dirty="0"/>
          </a:p>
        </p:txBody>
      </p:sp>
      <p:sp>
        <p:nvSpPr>
          <p:cNvPr id="23" name="Shape 16"/>
          <p:cNvSpPr/>
          <p:nvPr/>
        </p:nvSpPr>
        <p:spPr>
          <a:xfrm>
            <a:off x="0" y="5029200"/>
            <a:ext cx="9144000" cy="114300"/>
          </a:xfrm>
          <a:prstGeom prst="rect">
            <a:avLst/>
          </a:prstGeom>
          <a:solidFill>
            <a:srgbClr val="81C784"/>
          </a:solidFill>
          <a:ln w="12700">
            <a:solidFill>
              <a:srgbClr val="81C784"/>
            </a:solidFill>
            <a:prstDash val="solid"/>
          </a:ln>
        </p:spPr>
      </p:sp>
      <p:sp>
        <p:nvSpPr>
          <p:cNvPr id="24" name="Text 17"/>
          <p:cNvSpPr/>
          <p:nvPr/>
        </p:nvSpPr>
        <p:spPr>
          <a:xfrm>
            <a:off x="8595360" y="4846320"/>
            <a:ext cx="457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04D2C"/>
          </a:solidFill>
          <a:ln w="12700">
            <a:solidFill>
              <a:srgbClr val="004D2C"/>
            </a:solidFill>
            <a:prstDash val="solid"/>
          </a:ln>
        </p:spPr>
      </p:sp>
      <p:pic>
        <p:nvPicPr>
          <p:cNvPr id="3" name="Image 0" descr="preencoded.png">    </p:cNvPr>
          <p:cNvPicPr>
            <a:picLocks noChangeAspect="1"/>
          </p:cNvPicPr>
          <p:nvPr/>
        </p:nvPicPr>
        <p:blipFill>
          <a:blip r:embed="rId1"/>
          <a:stretch>
            <a:fillRect/>
          </a:stretch>
        </p:blipFill>
        <p:spPr>
          <a:xfrm>
            <a:off x="91440" y="36576"/>
            <a:ext cx="292608" cy="292608"/>
          </a:xfrm>
          <a:prstGeom prst="rect">
            <a:avLst/>
          </a:prstGeom>
        </p:spPr>
      </p:pic>
      <p:sp>
        <p:nvSpPr>
          <p:cNvPr id="4" name="Text 1"/>
          <p:cNvSpPr/>
          <p:nvPr/>
        </p:nvSpPr>
        <p:spPr>
          <a:xfrm>
            <a:off x="457200" y="0"/>
            <a:ext cx="82296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 Import Wizard · User Guide</a:t>
            </a:r>
            <a:endParaRPr lang="en-US" sz="1000" dirty="0"/>
          </a:p>
        </p:txBody>
      </p:sp>
      <p:sp>
        <p:nvSpPr>
          <p:cNvPr id="5"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006B3F"/>
                </a:solidFill>
                <a:latin typeface="Calibri" pitchFamily="34" charset="0"/>
                <a:ea typeface="Calibri" pitchFamily="34" charset="-122"/>
                <a:cs typeface="Calibri" pitchFamily="34" charset="-120"/>
              </a:rPr>
              <a:t>QA</a:t>
            </a:r>
            <a:endParaRPr lang="en-US" sz="1100" dirty="0"/>
          </a:p>
        </p:txBody>
      </p:sp>
      <p:sp>
        <p:nvSpPr>
          <p:cNvPr id="6" name="Text 3"/>
          <p:cNvSpPr/>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004D2C"/>
                </a:solidFill>
                <a:latin typeface="Georgia" pitchFamily="34" charset="0"/>
                <a:ea typeface="Georgia" pitchFamily="34" charset="-122"/>
                <a:cs typeface="Georgia" pitchFamily="34" charset="-120"/>
              </a:rPr>
              <a:t>Test plan — end-to-end checklist</a:t>
            </a:r>
            <a:endParaRPr lang="en-US" sz="3200" dirty="0"/>
          </a:p>
        </p:txBody>
      </p:sp>
      <p:sp>
        <p:nvSpPr>
          <p:cNvPr id="7" name="Shape 4"/>
          <p:cNvSpPr/>
          <p:nvPr/>
        </p:nvSpPr>
        <p:spPr>
          <a:xfrm>
            <a:off x="457200" y="1554480"/>
            <a:ext cx="8229600" cy="329184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863840" cy="914400"/>
        </p:xfrm>
        <a:graphic>
          <a:graphicData uri="http://schemas.openxmlformats.org/drawingml/2006/table">
            <a:tbl>
              <a:tblPr/>
              <a:tblGrid>
                <a:gridCol w="365760"/>
                <a:gridCol w="2926080"/>
                <a:gridCol w="4572000"/>
              </a:tblGrid>
              <a:tr h="24688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6B3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6B3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Pass criterion</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6B3F"/>
                    </a:solidFill>
                  </a:tcPr>
                </a:tc>
              </a:tr>
              <a:tr h="24688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Hard-refresh the wizard tab</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Browser fetches the latest client bundle (no "Spec ?.?")</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4688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Start over from a failed run</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Red error banner clears; upload form is fresh</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4688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Drop the DOCX</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Upload progress to 100%, "Starting AI service…" briefly, advance to Parse</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4688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Parse completes</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All 7 stages done; "N raw, M after filter" line in deep_walker detail</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4688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Spec 1.a has content</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Rail shows a number badge on 1.a (no longer empty)</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4688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Matrices entry visible</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Top of the rail: "📊 Matrices · 2"; click shows the full &lt;table&gt;</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4688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Kind chip flip</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Click "Evidence" on a Narrative card → it re-buckets, the rail badges update</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4688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Approve all</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Bulk toolbar button marks every visible card green</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4688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 Add from source</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Empty spec card → modal opens → highlight → "Use this passage" → card fills</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4688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 Apply to editor</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Confirm dialog shows counts; status flips to "applied"; success banner</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4688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Standards tab</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Narratives visible under each spec; AI-analysis blocks at the top of each</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4688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Curriculum Matrix tab</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Two new CurriculumMatrix documents; rawContent renders the matrix tables</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9" name="Shape 5"/>
          <p:cNvSpPr/>
          <p:nvPr/>
        </p:nvSpPr>
        <p:spPr>
          <a:xfrm>
            <a:off x="0" y="5029200"/>
            <a:ext cx="9144000" cy="114300"/>
          </a:xfrm>
          <a:prstGeom prst="rect">
            <a:avLst/>
          </a:prstGeom>
          <a:solidFill>
            <a:srgbClr val="81C784"/>
          </a:solidFill>
          <a:ln w="12700">
            <a:solidFill>
              <a:srgbClr val="81C784"/>
            </a:solidFill>
            <a:prstDash val="solid"/>
          </a:ln>
        </p:spPr>
      </p:sp>
      <p:sp>
        <p:nvSpPr>
          <p:cNvPr id="10" name="Text 6"/>
          <p:cNvSpPr/>
          <p:nvPr/>
        </p:nvSpPr>
        <p:spPr>
          <a:xfrm>
            <a:off x="8595360" y="4846320"/>
            <a:ext cx="457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004D2C"/>
          </a:solidFill>
          <a:ln w="12700">
            <a:solidFill>
              <a:srgbClr val="004D2C"/>
            </a:solidFill>
            <a:prstDash val="solid"/>
          </a:ln>
        </p:spPr>
      </p:sp>
      <p:pic>
        <p:nvPicPr>
          <p:cNvPr id="3" name="Image 0" descr="preencoded.png">    </p:cNvPr>
          <p:cNvPicPr>
            <a:picLocks noChangeAspect="1"/>
          </p:cNvPicPr>
          <p:nvPr/>
        </p:nvPicPr>
        <p:blipFill>
          <a:blip r:embed="rId1"/>
          <a:stretch>
            <a:fillRect/>
          </a:stretch>
        </p:blipFill>
        <p:spPr>
          <a:xfrm>
            <a:off x="91440" y="36576"/>
            <a:ext cx="292608" cy="292608"/>
          </a:xfrm>
          <a:prstGeom prst="rect">
            <a:avLst/>
          </a:prstGeom>
        </p:spPr>
      </p:pic>
      <p:sp>
        <p:nvSpPr>
          <p:cNvPr id="4" name="Text 1"/>
          <p:cNvSpPr/>
          <p:nvPr/>
        </p:nvSpPr>
        <p:spPr>
          <a:xfrm>
            <a:off x="457200" y="0"/>
            <a:ext cx="82296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 Import Wizard · User Guide</a:t>
            </a:r>
            <a:endParaRPr lang="en-US" sz="1000" dirty="0"/>
          </a:p>
        </p:txBody>
      </p:sp>
      <p:sp>
        <p:nvSpPr>
          <p:cNvPr id="5" name="Text 2"/>
          <p:cNvSpPr/>
          <p:nvPr/>
        </p:nvSpPr>
        <p:spPr>
          <a:xfrm>
            <a:off x="457200" y="502920"/>
            <a:ext cx="8229600" cy="274320"/>
          </a:xfrm>
          <a:prstGeom prst="rect">
            <a:avLst/>
          </a:prstGeom>
          <a:noFill/>
          <a:ln/>
        </p:spPr>
        <p:txBody>
          <a:bodyPr wrap="square" lIns="0" tIns="0" rIns="0" bIns="0" rtlCol="0" anchor="ctr"/>
          <a:lstStyle/>
          <a:p>
            <a:pPr indent="0" marL="0">
              <a:buNone/>
            </a:pPr>
            <a:r>
              <a:rPr lang="en-US" sz="1100" b="1" spc="400" kern="0" dirty="0">
                <a:solidFill>
                  <a:srgbClr val="006B3F"/>
                </a:solidFill>
                <a:latin typeface="Calibri" pitchFamily="34" charset="0"/>
                <a:ea typeface="Calibri" pitchFamily="34" charset="-122"/>
                <a:cs typeface="Calibri" pitchFamily="34" charset="-120"/>
              </a:rPr>
              <a:t>WHEN THINGS GO SIDEWAYS</a:t>
            </a:r>
            <a:endParaRPr lang="en-US" sz="1100" dirty="0"/>
          </a:p>
        </p:txBody>
      </p:sp>
      <p:sp>
        <p:nvSpPr>
          <p:cNvPr id="6" name="Text 3"/>
          <p:cNvSpPr/>
          <p:nvPr/>
        </p:nvSpPr>
        <p:spPr>
          <a:xfrm>
            <a:off x="457200" y="777240"/>
            <a:ext cx="8229600" cy="640080"/>
          </a:xfrm>
          <a:prstGeom prst="rect">
            <a:avLst/>
          </a:prstGeom>
          <a:noFill/>
          <a:ln/>
        </p:spPr>
        <p:txBody>
          <a:bodyPr wrap="square" lIns="0" tIns="0" rIns="0" bIns="0" rtlCol="0" anchor="ctr"/>
          <a:lstStyle/>
          <a:p>
            <a:pPr indent="0" marL="0">
              <a:buNone/>
            </a:pPr>
            <a:r>
              <a:rPr lang="en-US" sz="3200" b="1" dirty="0">
                <a:solidFill>
                  <a:srgbClr val="004D2C"/>
                </a:solidFill>
                <a:latin typeface="Georgia" pitchFamily="34" charset="0"/>
                <a:ea typeface="Georgia" pitchFamily="34" charset="-122"/>
                <a:cs typeface="Georgia" pitchFamily="34" charset="-120"/>
              </a:rPr>
              <a:t>Troubleshooting</a:t>
            </a:r>
            <a:endParaRPr lang="en-US" sz="3200" dirty="0"/>
          </a:p>
        </p:txBody>
      </p:sp>
      <p:sp>
        <p:nvSpPr>
          <p:cNvPr id="7" name="Shape 4"/>
          <p:cNvSpPr/>
          <p:nvPr/>
        </p:nvSpPr>
        <p:spPr>
          <a:xfrm>
            <a:off x="457200" y="1508760"/>
            <a:ext cx="8229600" cy="62179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8" name="Image 1" descr="preencoded.png">    </p:cNvPr>
          <p:cNvPicPr>
            <a:picLocks noChangeAspect="1"/>
          </p:cNvPicPr>
          <p:nvPr/>
        </p:nvPicPr>
        <p:blipFill>
          <a:blip r:embed="rId2"/>
          <a:stretch>
            <a:fillRect/>
          </a:stretch>
        </p:blipFill>
        <p:spPr>
          <a:xfrm>
            <a:off x="640080" y="1673352"/>
            <a:ext cx="292608" cy="292608"/>
          </a:xfrm>
          <a:prstGeom prst="rect">
            <a:avLst/>
          </a:prstGeom>
        </p:spPr>
      </p:pic>
      <p:sp>
        <p:nvSpPr>
          <p:cNvPr id="9" name="Text 5"/>
          <p:cNvSpPr/>
          <p:nvPr/>
        </p:nvSpPr>
        <p:spPr>
          <a:xfrm>
            <a:off x="1051560" y="1581912"/>
            <a:ext cx="7498080" cy="256032"/>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OpenAI 429 insufficient_quota</a:t>
            </a:r>
            <a:endParaRPr lang="en-US" sz="1200" dirty="0"/>
          </a:p>
        </p:txBody>
      </p:sp>
      <p:sp>
        <p:nvSpPr>
          <p:cNvPr id="10" name="Text 6"/>
          <p:cNvSpPr/>
          <p:nvPr/>
        </p:nvSpPr>
        <p:spPr>
          <a:xfrm>
            <a:off x="1051560" y="1819656"/>
            <a:ext cx="749808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Add credits at platform.openai.com/billing. Set auto-recharge to avoid the wizard halting mid-run.</a:t>
            </a:r>
            <a:endParaRPr lang="en-US" sz="1000" dirty="0"/>
          </a:p>
        </p:txBody>
      </p:sp>
      <p:sp>
        <p:nvSpPr>
          <p:cNvPr id="11" name="Shape 7"/>
          <p:cNvSpPr/>
          <p:nvPr/>
        </p:nvSpPr>
        <p:spPr>
          <a:xfrm>
            <a:off x="457200" y="2167128"/>
            <a:ext cx="8229600" cy="62179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12" name="Image 2" descr="preencoded.png">    </p:cNvPr>
          <p:cNvPicPr>
            <a:picLocks noChangeAspect="1"/>
          </p:cNvPicPr>
          <p:nvPr/>
        </p:nvPicPr>
        <p:blipFill>
          <a:blip r:embed="rId3"/>
          <a:stretch>
            <a:fillRect/>
          </a:stretch>
        </p:blipFill>
        <p:spPr>
          <a:xfrm>
            <a:off x="640080" y="2331720"/>
            <a:ext cx="292608" cy="292608"/>
          </a:xfrm>
          <a:prstGeom prst="rect">
            <a:avLst/>
          </a:prstGeom>
        </p:spPr>
      </p:pic>
      <p:sp>
        <p:nvSpPr>
          <p:cNvPr id="13" name="Text 8"/>
          <p:cNvSpPr/>
          <p:nvPr/>
        </p:nvSpPr>
        <p:spPr>
          <a:xfrm>
            <a:off x="1051560" y="2240280"/>
            <a:ext cx="7498080" cy="256032"/>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"Spec ?.?" in the matrix step</a:t>
            </a:r>
            <a:endParaRPr lang="en-US" sz="1200" dirty="0"/>
          </a:p>
        </p:txBody>
      </p:sp>
      <p:sp>
        <p:nvSpPr>
          <p:cNvPr id="14" name="Text 9"/>
          <p:cNvSpPr/>
          <p:nvPr/>
        </p:nvSpPr>
        <p:spPr>
          <a:xfrm>
            <a:off x="1051560" y="2478024"/>
            <a:ext cx="749808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Old browser bundle. Hard-refresh (⌘⇧R / Ctrl⇧R). After refresh you should see actual spec markers like 11.a, 11.b.</a:t>
            </a:r>
            <a:endParaRPr lang="en-US" sz="1000" dirty="0"/>
          </a:p>
        </p:txBody>
      </p:sp>
      <p:sp>
        <p:nvSpPr>
          <p:cNvPr id="15" name="Shape 10"/>
          <p:cNvSpPr/>
          <p:nvPr/>
        </p:nvSpPr>
        <p:spPr>
          <a:xfrm>
            <a:off x="457200" y="2825496"/>
            <a:ext cx="8229600" cy="62179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16" name="Image 3" descr="preencoded.png">    </p:cNvPr>
          <p:cNvPicPr>
            <a:picLocks noChangeAspect="1"/>
          </p:cNvPicPr>
          <p:nvPr/>
        </p:nvPicPr>
        <p:blipFill>
          <a:blip r:embed="rId4"/>
          <a:stretch>
            <a:fillRect/>
          </a:stretch>
        </p:blipFill>
        <p:spPr>
          <a:xfrm>
            <a:off x="640080" y="2990088"/>
            <a:ext cx="292608" cy="292608"/>
          </a:xfrm>
          <a:prstGeom prst="rect">
            <a:avLst/>
          </a:prstGeom>
        </p:spPr>
      </p:pic>
      <p:sp>
        <p:nvSpPr>
          <p:cNvPr id="17" name="Text 11"/>
          <p:cNvSpPr/>
          <p:nvPr/>
        </p:nvSpPr>
        <p:spPr>
          <a:xfrm>
            <a:off x="1051560" y="2898648"/>
            <a:ext cx="7498080" cy="256032"/>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Matrix columnHeaders blank</a:t>
            </a:r>
            <a:endParaRPr lang="en-US" sz="1200" dirty="0"/>
          </a:p>
        </p:txBody>
      </p:sp>
      <p:sp>
        <p:nvSpPr>
          <p:cNvPr id="18" name="Text 12"/>
          <p:cNvSpPr/>
          <p:nvPr/>
        </p:nvSpPr>
        <p:spPr>
          <a:xfrm>
            <a:off x="1051560" y="3136392"/>
            <a:ext cx="749808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Mammoth couldn’t read the source header cells. Open your DOCX side-by-side to read column 1, 2, 3 … or skip the matrix.</a:t>
            </a:r>
            <a:endParaRPr lang="en-US" sz="1000" dirty="0"/>
          </a:p>
        </p:txBody>
      </p:sp>
      <p:sp>
        <p:nvSpPr>
          <p:cNvPr id="19" name="Shape 13"/>
          <p:cNvSpPr/>
          <p:nvPr/>
        </p:nvSpPr>
        <p:spPr>
          <a:xfrm>
            <a:off x="457200" y="3483864"/>
            <a:ext cx="8229600" cy="62179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20" name="Image 4" descr="preencoded.png">    </p:cNvPr>
          <p:cNvPicPr>
            <a:picLocks noChangeAspect="1"/>
          </p:cNvPicPr>
          <p:nvPr/>
        </p:nvPicPr>
        <p:blipFill>
          <a:blip r:embed="rId5"/>
          <a:stretch>
            <a:fillRect/>
          </a:stretch>
        </p:blipFill>
        <p:spPr>
          <a:xfrm>
            <a:off x="640080" y="3648456"/>
            <a:ext cx="292608" cy="292608"/>
          </a:xfrm>
          <a:prstGeom prst="rect">
            <a:avLst/>
          </a:prstGeom>
        </p:spPr>
      </p:pic>
      <p:sp>
        <p:nvSpPr>
          <p:cNvPr id="21" name="Text 14"/>
          <p:cNvSpPr/>
          <p:nvPr/>
        </p:nvSpPr>
        <p:spPr>
          <a:xfrm>
            <a:off x="1051560" y="3557016"/>
            <a:ext cx="7498080" cy="256032"/>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Stage stuck on matcher</a:t>
            </a:r>
            <a:endParaRPr lang="en-US" sz="1200" dirty="0"/>
          </a:p>
        </p:txBody>
      </p:sp>
      <p:sp>
        <p:nvSpPr>
          <p:cNvPr id="22" name="Text 15"/>
          <p:cNvSpPr/>
          <p:nvPr/>
        </p:nvSpPr>
        <p:spPr>
          <a:xfrm>
            <a:off x="1051560" y="3794760"/>
            <a:ext cx="749808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Coverage-review takes ~2-3 min on a Stevenson-scale doc. Watch the "N / M" counter. Stall banner appears if no update for &gt;30s.</a:t>
            </a:r>
            <a:endParaRPr lang="en-US" sz="1000" dirty="0"/>
          </a:p>
        </p:txBody>
      </p:sp>
      <p:sp>
        <p:nvSpPr>
          <p:cNvPr id="23" name="Shape 16"/>
          <p:cNvSpPr/>
          <p:nvPr/>
        </p:nvSpPr>
        <p:spPr>
          <a:xfrm>
            <a:off x="457200" y="4142232"/>
            <a:ext cx="8229600" cy="62179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0000"/>
              </a:srgbClr>
            </a:outerShdw>
          </a:effectLst>
        </p:spPr>
      </p:sp>
      <p:pic>
        <p:nvPicPr>
          <p:cNvPr id="24" name="Image 5" descr="preencoded.png">    </p:cNvPr>
          <p:cNvPicPr>
            <a:picLocks noChangeAspect="1"/>
          </p:cNvPicPr>
          <p:nvPr/>
        </p:nvPicPr>
        <p:blipFill>
          <a:blip r:embed="rId6"/>
          <a:stretch>
            <a:fillRect/>
          </a:stretch>
        </p:blipFill>
        <p:spPr>
          <a:xfrm>
            <a:off x="640080" y="4306824"/>
            <a:ext cx="292608" cy="292608"/>
          </a:xfrm>
          <a:prstGeom prst="rect">
            <a:avLst/>
          </a:prstGeom>
        </p:spPr>
      </p:pic>
      <p:sp>
        <p:nvSpPr>
          <p:cNvPr id="25" name="Text 17"/>
          <p:cNvSpPr/>
          <p:nvPr/>
        </p:nvSpPr>
        <p:spPr>
          <a:xfrm>
            <a:off x="1051560" y="4215384"/>
            <a:ext cx="7498080" cy="256032"/>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Parse failed: red banner</a:t>
            </a:r>
            <a:endParaRPr lang="en-US" sz="1200" dirty="0"/>
          </a:p>
        </p:txBody>
      </p:sp>
      <p:sp>
        <p:nvSpPr>
          <p:cNvPr id="26" name="Text 18"/>
          <p:cNvSpPr/>
          <p:nvPr/>
        </p:nvSpPr>
        <p:spPr>
          <a:xfrm>
            <a:off x="1051560" y="4453128"/>
            <a:ext cx="749808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Click "Start over" — clears errors + transient state + returns to upload. Check the error detail for the failing stage.</a:t>
            </a:r>
            <a:endParaRPr lang="en-US" sz="1000" dirty="0"/>
          </a:p>
        </p:txBody>
      </p:sp>
      <p:sp>
        <p:nvSpPr>
          <p:cNvPr id="27" name="Shape 19"/>
          <p:cNvSpPr/>
          <p:nvPr/>
        </p:nvSpPr>
        <p:spPr>
          <a:xfrm>
            <a:off x="0" y="5029200"/>
            <a:ext cx="9144000" cy="114300"/>
          </a:xfrm>
          <a:prstGeom prst="rect">
            <a:avLst/>
          </a:prstGeom>
          <a:solidFill>
            <a:srgbClr val="81C784"/>
          </a:solidFill>
          <a:ln w="12700">
            <a:solidFill>
              <a:srgbClr val="81C784"/>
            </a:solidFill>
            <a:prstDash val="solid"/>
          </a:ln>
        </p:spPr>
      </p:sp>
      <p:sp>
        <p:nvSpPr>
          <p:cNvPr id="28" name="Text 20"/>
          <p:cNvSpPr/>
          <p:nvPr/>
        </p:nvSpPr>
        <p:spPr>
          <a:xfrm>
            <a:off x="8595360" y="4846320"/>
            <a:ext cx="457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4D2C"/>
        </a:solidFill>
      </p:bgPr>
    </p:bg>
    <p:spTree>
      <p:nvGrpSpPr>
        <p:cNvPr id="1" name=""/>
        <p:cNvGrpSpPr/>
        <p:nvPr/>
      </p:nvGrpSpPr>
      <p:grpSpPr>
        <a:xfrm>
          <a:off x="0" y="0"/>
          <a:ext cx="0" cy="0"/>
          <a:chOff x="0" y="0"/>
          <a:chExt cx="0" cy="0"/>
        </a:xfrm>
      </p:grpSpPr>
      <p:sp>
        <p:nvSpPr>
          <p:cNvPr id="2" name="Shape 0"/>
          <p:cNvSpPr/>
          <p:nvPr/>
        </p:nvSpPr>
        <p:spPr>
          <a:xfrm>
            <a:off x="5029200" y="0"/>
            <a:ext cx="4114800" cy="5143500"/>
          </a:xfrm>
          <a:prstGeom prst="rect">
            <a:avLst/>
          </a:prstGeom>
          <a:solidFill>
            <a:srgbClr val="006B3F"/>
          </a:solidFill>
          <a:ln w="12700">
            <a:solidFill>
              <a:srgbClr val="006B3F"/>
            </a:solidFill>
            <a:prstDash val="solid"/>
          </a:ln>
        </p:spPr>
      </p:sp>
      <p:sp>
        <p:nvSpPr>
          <p:cNvPr id="3" name="Shape 1"/>
          <p:cNvSpPr/>
          <p:nvPr/>
        </p:nvSpPr>
        <p:spPr>
          <a:xfrm>
            <a:off x="0" y="4206240"/>
            <a:ext cx="9144000" cy="937260"/>
          </a:xfrm>
          <a:prstGeom prst="rect">
            <a:avLst/>
          </a:prstGeom>
          <a:solidFill>
            <a:srgbClr val="81C784">
              <a:alpha val="40000"/>
            </a:srgbClr>
          </a:solidFill>
          <a:ln w="12700">
            <a:solidFill>
              <a:srgbClr val="81C784">
                <a:alpha val="40000"/>
              </a:srgbClr>
            </a:solidFill>
            <a:prstDash val="solid"/>
          </a:ln>
        </p:spPr>
      </p:sp>
      <p:pic>
        <p:nvPicPr>
          <p:cNvPr id="4" name="Image 0" descr="preencoded.png">    </p:cNvPr>
          <p:cNvPicPr>
            <a:picLocks noChangeAspect="1"/>
          </p:cNvPicPr>
          <p:nvPr/>
        </p:nvPicPr>
        <p:blipFill>
          <a:blip r:embed="rId1"/>
          <a:stretch>
            <a:fillRect/>
          </a:stretch>
        </p:blipFill>
        <p:spPr>
          <a:xfrm>
            <a:off x="731520" y="548640"/>
            <a:ext cx="1188720" cy="1188720"/>
          </a:xfrm>
          <a:prstGeom prst="rect">
            <a:avLst/>
          </a:prstGeom>
        </p:spPr>
      </p:pic>
      <p:sp>
        <p:nvSpPr>
          <p:cNvPr id="5" name="Text 2"/>
          <p:cNvSpPr/>
          <p:nvPr/>
        </p:nvSpPr>
        <p:spPr>
          <a:xfrm>
            <a:off x="457200" y="1828800"/>
            <a:ext cx="429768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You’re done.</a:t>
            </a:r>
            <a:endParaRPr lang="en-US" sz="3200" dirty="0"/>
          </a:p>
        </p:txBody>
      </p:sp>
      <p:sp>
        <p:nvSpPr>
          <p:cNvPr id="6" name="Text 3"/>
          <p:cNvSpPr/>
          <p:nvPr/>
        </p:nvSpPr>
        <p:spPr>
          <a:xfrm>
            <a:off x="457200" y="2514600"/>
            <a:ext cx="4297680" cy="365760"/>
          </a:xfrm>
          <a:prstGeom prst="rect">
            <a:avLst/>
          </a:prstGeom>
          <a:noFill/>
          <a:ln/>
        </p:spPr>
        <p:txBody>
          <a:bodyPr wrap="square" lIns="0" tIns="0" rIns="0" bIns="0" rtlCol="0" anchor="ctr"/>
          <a:lstStyle/>
          <a:p>
            <a:pPr indent="0" marL="0">
              <a:buNone/>
            </a:pPr>
            <a:r>
              <a:rPr lang="en-US" sz="1400" i="1" dirty="0">
                <a:solidFill>
                  <a:srgbClr val="81C784"/>
                </a:solidFill>
                <a:latin typeface="Georgia" pitchFamily="34" charset="0"/>
                <a:ea typeface="Georgia" pitchFamily="34" charset="-122"/>
                <a:cs typeface="Georgia" pitchFamily="34" charset="-120"/>
              </a:rPr>
              <a:t>Open the Standards tab and watch your self-study fill in.</a:t>
            </a:r>
            <a:endParaRPr lang="en-US" sz="1400" dirty="0"/>
          </a:p>
        </p:txBody>
      </p:sp>
      <p:sp>
        <p:nvSpPr>
          <p:cNvPr id="7" name="Text 4"/>
          <p:cNvSpPr/>
          <p:nvPr/>
        </p:nvSpPr>
        <p:spPr>
          <a:xfrm>
            <a:off x="5394960" y="1371600"/>
            <a:ext cx="3383280" cy="22860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Next runs get easier</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Every correction you make becomes a labeled few-shot example for the matcher. Your institution’s third self-study should need fewer manual fixes than your first.</a:t>
            </a:r>
            <a:endParaRPr lang="en-US" sz="1300" dirty="0"/>
          </a:p>
        </p:txBody>
      </p:sp>
      <p:sp>
        <p:nvSpPr>
          <p:cNvPr id="8" name="Text 5"/>
          <p:cNvSpPr/>
          <p:nvPr/>
        </p:nvSpPr>
        <p:spPr>
          <a:xfrm>
            <a:off x="731520" y="4434840"/>
            <a:ext cx="7772400" cy="274320"/>
          </a:xfrm>
          <a:prstGeom prst="rect">
            <a:avLst/>
          </a:prstGeom>
          <a:noFill/>
          <a:ln/>
        </p:spPr>
        <p:txBody>
          <a:bodyPr wrap="square" lIns="0" tIns="0" rIns="0" bIns="0" rtlCol="0" anchor="ctr"/>
          <a:lstStyle/>
          <a:p>
            <a:pPr indent="0" marL="0">
              <a:buNone/>
            </a:pPr>
            <a:r>
              <a:rPr lang="en-US" sz="1100" dirty="0">
                <a:solidFill>
                  <a:srgbClr val="FFFFFF"/>
                </a:solidFill>
                <a:latin typeface="Consolas" pitchFamily="34" charset="0"/>
                <a:ea typeface="Consolas" pitchFamily="34" charset="-122"/>
                <a:cs typeface="Consolas" pitchFamily="34" charset="-120"/>
              </a:rPr>
              <a:t>Vault: CSHSE/Engineering/wizard-user-guide-2026-05-20.md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Import Wizard — User Guide &amp; Test Plan</dc:title>
  <dc:subject>Coordinator walkthrough for the wizard from DOCX upload to Standards editor.</dc:subject>
  <dc:creator>CSHSE Engineering</dc:creator>
  <cp:lastModifiedBy>CSHSE Engineering</cp:lastModifiedBy>
  <cp:revision>1</cp:revision>
  <dcterms:created xsi:type="dcterms:W3CDTF">2026-05-20T16:04:08Z</dcterms:created>
  <dcterms:modified xsi:type="dcterms:W3CDTF">2026-05-20T16:04:08Z</dcterms:modified>
</cp:coreProperties>
</file>